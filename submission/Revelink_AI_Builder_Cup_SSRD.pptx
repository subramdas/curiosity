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I wanted to understand GPUs. I found videos, searched for explanations, and asked follow-up questions in separate tools. Revelink brings that journey together. The registered theme is Media, Content &amp; Digital Experiences. The public prototype currently retains the earlier name Curiosity; the repository contains the approved Revelink rebrand. Team details supplied by founder. Original template administrative download note and blank closing slides omitted; all substantive prompts are covered.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STARTUP_IDEA.md latest agreed direction and founder GPU example; src/App.tsx and shared feature modules. This is a founder-observed problem and product hypothesis, not a surveyed prevalence claim. Computing has prepared checked source notes; broader search does not imply reviewed teaching content across every subject.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is a workflow framing, not an exhaustive competitor feature audit or a claim that other products cannot offer these capabilities. Desktop educational guardrails and Universe navigation are local implementations, not verified public-deployment features. Differentiation derives from integration and intentional transitions, not proprietary foundation-model ownership. Demand and willingness to pay remain unvalidated.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shared/features/videos, chat, topics, progress, learning; desktop-ui/features/universes and history; backend/search. Break active time is measured by the browser; the server gate checks elapsed session time and is not proof of attention. Account progress code exists but wider live two-account sync/isolation review remains. Graph is intentionally omitted from active feature list because it defaults 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backend/search/routes.mjs, backend/chat/teacher.mjs and gemini-teacher.mjs, shared/features/chat/useTutorChat.ts and src/App.tsx. The teacher can answer another subject without forcing a player change. Timestamp requires eligible analyzed video, related question, valid bounds and nonempty evidence; it remains AI-matched and may be approximate. Ineligible video uses a clearly labeled general explanation without a timestamp.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Captured by the repository browser regression tests on 2026-10-18, not a live AI-answer demonstration. Penpot is the project design source; inspected New File 1 / Revelink — Brand explorations and curiosity-desktop-universe through the connected MCP. Native text/shapes used throughout this PowerPoint; application screenshots are the only flattened panels. Source captures: tests/browser/search.spec.ts and chat-readability.spec.ts.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backend/production.mjs, backend/server.mjs, backend/storage, backend/http, backend/providers, backend/supabase.mjs, Dockerfile, deployment docs. Gemini uses Developer API REST, not Vertex AI. Google Cloud is primary app hosting; Supabase is supporting auth/private storage. The browser also uses the Supabase public auth client. Latest classification/search queue is local; the hosted Cloud Run revision predates those modules. One process-local Gemini queue requires distributed coordination before multiple replicas.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implementation: backend/chat/gemini-teacher.mjs validates structured answers and known source IDs; backend/chat/teacher.mjs retrieves actual YouTube recommendations. backend/search validates model decisions, IDs and intent. backend/classification performs two-stage extraction/resolution with Wikidata and provisional fallback. Sources do not imply factual verification of all videos. Gemini model is configured via GEMINI_MODEL; historical project notes record gemini-3.5-flash-lite, but this slide deliberately does not promise a particular billing/model tier. Queue priority teacher, search, background classification; default 15-second start spacing. No universal latency claim.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package.json, ARCHITECTURE.md, backend/production.mjs, migrations and browser tests. Production backend does not depend on experiments; shared UI does not import layout folders or backend. src coordinates feature state. Penpot approved Orbit Book visual language is reused. Technologies listed are present in repository, not prospective additions.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 assumptions only, not observed demand. Cloud Run default us-central1 active request-based list prices from https://cloud.google.com/run/pricing, checked 2026-10-18: CPU .000024 USD/vCPU-sec, RAM .0000025 USD/GiB-sec, .40 USD/million requests. Mumbai may have different rates; compute estimate is a reference calculation, NOT total project cost. No free-tier entitlement assumed. Gemini model/tier must be priced at https://ai.google.dev/gemini-api/docs/pricing against actual billed input/output/video tokens. Prototype uses bounded daily allowances and caching; minimum instances zero, max one. No fabricated total spend. Founder labour excluded.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public site captures from https://curiosity-u2ubbw6fra-el.a.run.app taken 2026-10-18, not invented mockups. Homepage and GPU results were visible; this screenshot does not by itself prove chat answer quality or live playback. Newer Revelink branding, desktop guardrails, Universe classification and history refinements are local, not claimed deployed. YouTube thumbnail/content rights remain with creators. The phone capture uses a desktop browser mobile viewport, not a physical phone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run 2026-10-18: npm test 10+85=95 passed, npm run build passed (main JS bundle size advisory remains), npm run test:browser 63 passed / 1 failed. Failure: universes.spec.ts:228, Other saved searches is absent; do not interpret as a fully green browser suite. No production code changed as part of deck preparation. Logs in submission/evidence. Historical timings are from PHASE_2_RESULTS.md Successful live retry, 2026-10-13; they do not measure current queue, video analysis, load or p95 latency. One live hosted general question on 2026-10-18 returned HTTP 200 in 2529 ms including two actual YouTube suggestions. No video context or timestamp was requested in that run. No measured learning improvement, retention or user adoption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and pilot are proposals, not completed milestones. Graph code exists locally but defaults off: 30 draft concepts and 26 connections; migration/publication and real access checks outstanding; no published videos/events. Graph exploration is activity, not mastery. Monetisation is unvalidated: begin free, test willingness to pay only after learner value is demonstrated. Paid-course integrations require separate rights/partnerships and are deferred. Scaling requires more than Cloud Run replicas because Gemini scheduler is process-local. Main hypothesis: reduced friction while resolving a self-directed doubt; test against current learner workflow.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repository verified via unauthenticated GitHub API 2026-10-18. Hosted URL returned HTTP 200 and rendered video results. Founder will add demo video later; replace the marked field before submitting and verify public unauthenticated access. Official submission requirements: https://aibuildercup.com/themes.html and https://aibuildercup.com/Faqs.html. PDF export included because official requirements ask for deck/PPT converted to PDF. No deployment or repository publication performed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uriosity-u2ubbw6fra-el.a.run.app" TargetMode="External"/><Relationship Id="rId3" Type="http://schemas.openxmlformats.org/officeDocument/2006/relationships/hyperlink" Target="https://github.com/SubramDas/Curiosity" TargetMode="External"/><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B2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55BF95"/>
                </a:solidFill>
                <a:latin typeface="DejaVu Sans"/>
              </a:defRPr>
            </a:pPr>
            <a:r>
              <a:t>TEAM DETAILS · MEDIA, CONTENT &amp; DIGITAL EXPERIENCES</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FFFFFF"/>
                </a:solidFill>
                <a:latin typeface="DejaVu Sans"/>
              </a:defRPr>
            </a:pPr>
          </a:p>
        </p:txBody>
      </p:sp>
      <p:cxnSp>
        <p:nvCxnSpPr>
          <p:cNvPr id="4" name="Connector 3"/>
          <p:cNvCxnSpPr/>
          <p:nvPr/>
        </p:nvCxnSpPr>
        <p:spPr>
          <a:xfrm>
            <a:off x="502920" y="6428232"/>
            <a:ext cx="11183112" cy="0"/>
          </a:xfrm>
          <a:prstGeom prst="line">
            <a:avLst/>
          </a:prstGeom>
          <a:ln w="25400">
            <a:solidFill>
              <a:srgbClr val="176B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E6F0E8"/>
                </a:solidFill>
                <a:latin typeface="DejaVu Sans"/>
              </a:defRPr>
            </a:pPr>
            <a:r>
              <a:t>REVELINK  /  SSRD  /  AI BUILDER CUP 2026</a:t>
            </a:r>
          </a:p>
        </p:txBody>
      </p:sp>
      <p:sp>
        <p:nvSpPr>
          <p:cNvPr id="6" name="TextBox 5"/>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55BF95"/>
                </a:solidFill>
                <a:latin typeface="DejaVu Sans"/>
              </a:defRPr>
            </a:pPr>
            <a:r>
              <a:t>01</a:t>
            </a:r>
          </a:p>
        </p:txBody>
      </p:sp>
      <p:pic>
        <p:nvPicPr>
          <p:cNvPr id="7" name="Picture 6" descr="logo.png"/>
          <p:cNvPicPr>
            <a:picLocks noChangeAspect="1"/>
          </p:cNvPicPr>
          <p:nvPr/>
        </p:nvPicPr>
        <p:blipFill>
          <a:blip r:embed="rId2"/>
          <a:stretch>
            <a:fillRect/>
          </a:stretch>
        </p:blipFill>
        <p:spPr>
          <a:xfrm>
            <a:off x="502920" y="822960"/>
            <a:ext cx="667512" cy="667512"/>
          </a:xfrm>
          <a:prstGeom prst="rect">
            <a:avLst/>
          </a:prstGeom>
        </p:spPr>
      </p:pic>
      <p:sp>
        <p:nvSpPr>
          <p:cNvPr id="8" name="TextBox 7"/>
          <p:cNvSpPr txBox="1"/>
          <p:nvPr/>
        </p:nvSpPr>
        <p:spPr>
          <a:xfrm>
            <a:off x="1325880" y="841248"/>
            <a:ext cx="8229600" cy="640080"/>
          </a:xfrm>
          <a:prstGeom prst="rect">
            <a:avLst/>
          </a:prstGeom>
          <a:noFill/>
        </p:spPr>
        <p:txBody>
          <a:bodyPr wrap="square" lIns="0" rIns="0" tIns="0" bIns="0">
            <a:spAutoFit/>
          </a:bodyPr>
          <a:lstStyle/>
          <a:p>
            <a:pPr>
              <a:spcAft>
                <a:spcPts val="600"/>
              </a:spcAft>
              <a:defRPr sz="4000" b="1">
                <a:solidFill>
                  <a:srgbClr val="FFFFFF"/>
                </a:solidFill>
                <a:latin typeface="DejaVu Sans"/>
              </a:defRPr>
            </a:pPr>
            <a:r>
              <a:t>Revelink</a:t>
            </a:r>
          </a:p>
        </p:txBody>
      </p:sp>
      <p:sp>
        <p:nvSpPr>
          <p:cNvPr id="9" name="TextBox 8"/>
          <p:cNvSpPr txBox="1"/>
          <p:nvPr/>
        </p:nvSpPr>
        <p:spPr>
          <a:xfrm>
            <a:off x="548640" y="1938528"/>
            <a:ext cx="10789920" cy="1508760"/>
          </a:xfrm>
          <a:prstGeom prst="rect">
            <a:avLst/>
          </a:prstGeom>
          <a:noFill/>
        </p:spPr>
        <p:txBody>
          <a:bodyPr wrap="square" lIns="0" rIns="0" tIns="0" bIns="0">
            <a:spAutoFit/>
          </a:bodyPr>
          <a:lstStyle/>
          <a:p>
            <a:pPr>
              <a:spcAft>
                <a:spcPts val="600"/>
              </a:spcAft>
              <a:defRPr sz="3800" b="1">
                <a:solidFill>
                  <a:srgbClr val="FFFFFF"/>
                </a:solidFill>
                <a:latin typeface="DejaVu Sans"/>
              </a:defRPr>
            </a:pPr>
            <a:r>
              <a:t>Keep the curiosity.</a:t>
            </a:r>
          </a:p>
          <a:p>
            <a:pPr>
              <a:spcAft>
                <a:spcPts val="600"/>
              </a:spcAft>
              <a:defRPr sz="3800" b="1">
                <a:solidFill>
                  <a:srgbClr val="FFFFFF"/>
                </a:solidFill>
                <a:latin typeface="DejaVu Sans"/>
              </a:defRPr>
            </a:pPr>
            <a:r>
              <a:t>Keep the learning connected.</a:t>
            </a:r>
          </a:p>
        </p:txBody>
      </p:sp>
      <p:sp>
        <p:nvSpPr>
          <p:cNvPr id="10" name="TextBox 9"/>
          <p:cNvSpPr txBox="1"/>
          <p:nvPr/>
        </p:nvSpPr>
        <p:spPr>
          <a:xfrm>
            <a:off x="576072" y="3703320"/>
            <a:ext cx="9966960" cy="594360"/>
          </a:xfrm>
          <a:prstGeom prst="rect">
            <a:avLst/>
          </a:prstGeom>
          <a:noFill/>
        </p:spPr>
        <p:txBody>
          <a:bodyPr wrap="square" lIns="0" rIns="0" tIns="0" bIns="0">
            <a:spAutoFit/>
          </a:bodyPr>
          <a:lstStyle/>
          <a:p>
            <a:pPr>
              <a:spcAft>
                <a:spcPts val="600"/>
              </a:spcAft>
              <a:defRPr sz="2300" b="0">
                <a:solidFill>
                  <a:srgbClr val="55BF95"/>
                </a:solidFill>
                <a:latin typeface="DejaVu Sans"/>
              </a:defRPr>
            </a:pPr>
            <a:r>
              <a:t>Watch. Discover. Connect the dots.</a:t>
            </a:r>
          </a:p>
        </p:txBody>
      </p:sp>
      <p:sp>
        <p:nvSpPr>
          <p:cNvPr id="11" name="TextBox 10"/>
          <p:cNvSpPr txBox="1"/>
          <p:nvPr/>
        </p:nvSpPr>
        <p:spPr>
          <a:xfrm>
            <a:off x="576072" y="4690872"/>
            <a:ext cx="10881360" cy="658368"/>
          </a:xfrm>
          <a:prstGeom prst="rect">
            <a:avLst/>
          </a:prstGeom>
          <a:noFill/>
        </p:spPr>
        <p:txBody>
          <a:bodyPr wrap="square" lIns="0" rIns="0" tIns="0" bIns="0">
            <a:spAutoFit/>
          </a:bodyPr>
          <a:lstStyle/>
          <a:p>
            <a:pPr>
              <a:spcAft>
                <a:spcPts val="600"/>
              </a:spcAft>
              <a:defRPr sz="1900" b="0">
                <a:solidFill>
                  <a:srgbClr val="E6F0E8"/>
                </a:solidFill>
                <a:latin typeface="DejaVu Sans"/>
              </a:defRPr>
            </a:pPr>
            <a:r>
              <a:t>Problem: learners lose context and momentum moving between</a:t>
            </a:r>
          </a:p>
          <a:p>
            <a:pPr>
              <a:spcAft>
                <a:spcPts val="600"/>
              </a:spcAft>
              <a:defRPr sz="1900" b="0">
                <a:solidFill>
                  <a:srgbClr val="E6F0E8"/>
                </a:solidFill>
                <a:latin typeface="DejaVu Sans"/>
              </a:defRPr>
            </a:pPr>
            <a:r>
              <a:t>video discovery, explanations, and saved learning.</a:t>
            </a:r>
          </a:p>
        </p:txBody>
      </p:sp>
      <p:sp>
        <p:nvSpPr>
          <p:cNvPr id="12" name="TextBox 11"/>
          <p:cNvSpPr txBox="1"/>
          <p:nvPr/>
        </p:nvSpPr>
        <p:spPr>
          <a:xfrm>
            <a:off x="576072" y="5705856"/>
            <a:ext cx="10058400" cy="320040"/>
          </a:xfrm>
          <a:prstGeom prst="rect">
            <a:avLst/>
          </a:prstGeom>
          <a:noFill/>
        </p:spPr>
        <p:txBody>
          <a:bodyPr wrap="square" lIns="0" rIns="0" tIns="0" bIns="0">
            <a:spAutoFit/>
          </a:bodyPr>
          <a:lstStyle/>
          <a:p>
            <a:pPr>
              <a:spcAft>
                <a:spcPts val="600"/>
              </a:spcAft>
              <a:defRPr sz="1400" b="1">
                <a:solidFill>
                  <a:srgbClr val="FFFFFF"/>
                </a:solidFill>
                <a:latin typeface="DejaVu Sans"/>
              </a:defRPr>
            </a:pPr>
            <a:r>
              <a:t>TEAM  SSRD      TEAM LEADER  Subram Das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BRIEF ABOUT THE IDEA</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A question should start a learning journey.</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For adult students and early-career professionals in India, starting with English-language discovery.</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02</a:t>
            </a:r>
          </a:p>
        </p:txBody>
      </p:sp>
      <p:sp>
        <p:nvSpPr>
          <p:cNvPr id="8" name="Rounded Rectangle 7"/>
          <p:cNvSpPr/>
          <p:nvPr/>
        </p:nvSpPr>
        <p:spPr>
          <a:xfrm>
            <a:off x="502920" y="2651760"/>
            <a:ext cx="3520440" cy="31638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834640"/>
            <a:ext cx="3099816"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THE STARTING MOMENT</a:t>
            </a:r>
          </a:p>
        </p:txBody>
      </p:sp>
      <p:sp>
        <p:nvSpPr>
          <p:cNvPr id="10" name="TextBox 9"/>
          <p:cNvSpPr txBox="1"/>
          <p:nvPr/>
        </p:nvSpPr>
        <p:spPr>
          <a:xfrm>
            <a:off x="713232" y="3273552"/>
            <a:ext cx="3099816" cy="731520"/>
          </a:xfrm>
          <a:prstGeom prst="rect">
            <a:avLst/>
          </a:prstGeom>
          <a:noFill/>
        </p:spPr>
        <p:txBody>
          <a:bodyPr wrap="square" lIns="0" rIns="0" tIns="0" bIns="0">
            <a:spAutoFit/>
          </a:bodyPr>
          <a:lstStyle/>
          <a:p>
            <a:pPr>
              <a:spcAft>
                <a:spcPts val="600"/>
              </a:spcAft>
              <a:defRPr sz="2200" b="1">
                <a:solidFill>
                  <a:srgbClr val="17221D"/>
                </a:solidFill>
                <a:latin typeface="DejaVu Sans"/>
              </a:defRPr>
            </a:pPr>
            <a:r>
              <a:t>“How do GPUs work?”</a:t>
            </a:r>
          </a:p>
        </p:txBody>
      </p:sp>
      <p:sp>
        <p:nvSpPr>
          <p:cNvPr id="11" name="TextBox 10"/>
          <p:cNvSpPr txBox="1"/>
          <p:nvPr/>
        </p:nvSpPr>
        <p:spPr>
          <a:xfrm>
            <a:off x="713232" y="4096512"/>
            <a:ext cx="3099816" cy="1609344"/>
          </a:xfrm>
          <a:prstGeom prst="rect">
            <a:avLst/>
          </a:prstGeom>
          <a:noFill/>
        </p:spPr>
        <p:txBody>
          <a:bodyPr wrap="square" lIns="0" rIns="0" tIns="0" bIns="0">
            <a:spAutoFit/>
          </a:bodyPr>
          <a:lstStyle/>
          <a:p>
            <a:pPr>
              <a:spcAft>
                <a:spcPts val="600"/>
              </a:spcAft>
              <a:defRPr sz="1600" b="0">
                <a:solidFill>
                  <a:srgbClr val="627169"/>
                </a:solidFill>
                <a:latin typeface="DejaVu Sans"/>
              </a:defRPr>
            </a:pPr>
            <a:r>
              <a:t>A learner finds a video, but the next question sends them to another tool.</a:t>
            </a:r>
          </a:p>
        </p:txBody>
      </p:sp>
      <p:sp>
        <p:nvSpPr>
          <p:cNvPr id="12" name="Rounded Rectangle 11"/>
          <p:cNvSpPr/>
          <p:nvPr/>
        </p:nvSpPr>
        <p:spPr>
          <a:xfrm>
            <a:off x="4325112" y="2651760"/>
            <a:ext cx="3520440" cy="31638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834640"/>
            <a:ext cx="3099816"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THE FRICTION</a:t>
            </a:r>
          </a:p>
        </p:txBody>
      </p:sp>
      <p:sp>
        <p:nvSpPr>
          <p:cNvPr id="14" name="TextBox 13"/>
          <p:cNvSpPr txBox="1"/>
          <p:nvPr/>
        </p:nvSpPr>
        <p:spPr>
          <a:xfrm>
            <a:off x="4535424" y="3273552"/>
            <a:ext cx="3099816" cy="731520"/>
          </a:xfrm>
          <a:prstGeom prst="rect">
            <a:avLst/>
          </a:prstGeom>
          <a:noFill/>
        </p:spPr>
        <p:txBody>
          <a:bodyPr wrap="square" lIns="0" rIns="0" tIns="0" bIns="0">
            <a:spAutoFit/>
          </a:bodyPr>
          <a:lstStyle/>
          <a:p>
            <a:pPr>
              <a:spcAft>
                <a:spcPts val="600"/>
              </a:spcAft>
              <a:defRPr sz="2200" b="1">
                <a:solidFill>
                  <a:srgbClr val="17221D"/>
                </a:solidFill>
                <a:latin typeface="DejaVu Sans"/>
              </a:defRPr>
            </a:pPr>
            <a:r>
              <a:t>Context gets lost.</a:t>
            </a:r>
          </a:p>
        </p:txBody>
      </p:sp>
      <p:sp>
        <p:nvSpPr>
          <p:cNvPr id="15" name="TextBox 14"/>
          <p:cNvSpPr txBox="1"/>
          <p:nvPr/>
        </p:nvSpPr>
        <p:spPr>
          <a:xfrm>
            <a:off x="4535424" y="4096512"/>
            <a:ext cx="3099816" cy="1609344"/>
          </a:xfrm>
          <a:prstGeom prst="rect">
            <a:avLst/>
          </a:prstGeom>
          <a:noFill/>
        </p:spPr>
        <p:txBody>
          <a:bodyPr wrap="square" lIns="0" rIns="0" tIns="0" bIns="0">
            <a:spAutoFit/>
          </a:bodyPr>
          <a:lstStyle/>
          <a:p>
            <a:pPr>
              <a:spcAft>
                <a:spcPts val="600"/>
              </a:spcAft>
              <a:defRPr sz="1600" b="0">
                <a:solidFill>
                  <a:srgbClr val="627169"/>
                </a:solidFill>
                <a:latin typeface="DejaVu Sans"/>
              </a:defRPr>
            </a:pPr>
            <a:r>
              <a:t>Search, watch, ask, and remember are separate tasks. Unrelated feeds interrupt the journey.</a:t>
            </a:r>
          </a:p>
        </p:txBody>
      </p:sp>
      <p:sp>
        <p:nvSpPr>
          <p:cNvPr id="16" name="Rounded Rectangle 15"/>
          <p:cNvSpPr/>
          <p:nvPr/>
        </p:nvSpPr>
        <p:spPr>
          <a:xfrm>
            <a:off x="8147304" y="2651760"/>
            <a:ext cx="3520440" cy="31638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6" y="2834640"/>
            <a:ext cx="3099816"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THE IDEA</a:t>
            </a:r>
          </a:p>
        </p:txBody>
      </p:sp>
      <p:sp>
        <p:nvSpPr>
          <p:cNvPr id="18" name="TextBox 17"/>
          <p:cNvSpPr txBox="1"/>
          <p:nvPr/>
        </p:nvSpPr>
        <p:spPr>
          <a:xfrm>
            <a:off x="8357616" y="3273552"/>
            <a:ext cx="3099816" cy="731520"/>
          </a:xfrm>
          <a:prstGeom prst="rect">
            <a:avLst/>
          </a:prstGeom>
          <a:noFill/>
        </p:spPr>
        <p:txBody>
          <a:bodyPr wrap="square" lIns="0" rIns="0" tIns="0" bIns="0">
            <a:spAutoFit/>
          </a:bodyPr>
          <a:lstStyle/>
          <a:p>
            <a:pPr>
              <a:spcAft>
                <a:spcPts val="600"/>
              </a:spcAft>
              <a:defRPr sz="2200" b="1">
                <a:solidFill>
                  <a:srgbClr val="17221D"/>
                </a:solidFill>
                <a:latin typeface="DejaVu Sans"/>
              </a:defRPr>
            </a:pPr>
            <a:r>
              <a:t>One connected workspace.</a:t>
            </a:r>
          </a:p>
        </p:txBody>
      </p:sp>
      <p:sp>
        <p:nvSpPr>
          <p:cNvPr id="19" name="TextBox 18"/>
          <p:cNvSpPr txBox="1"/>
          <p:nvPr/>
        </p:nvSpPr>
        <p:spPr>
          <a:xfrm>
            <a:off x="8357616" y="4096512"/>
            <a:ext cx="3099816" cy="1609344"/>
          </a:xfrm>
          <a:prstGeom prst="rect">
            <a:avLst/>
          </a:prstGeom>
          <a:noFill/>
        </p:spPr>
        <p:txBody>
          <a:bodyPr wrap="square" lIns="0" rIns="0" tIns="0" bIns="0">
            <a:spAutoFit/>
          </a:bodyPr>
          <a:lstStyle/>
          <a:p>
            <a:pPr>
              <a:spcAft>
                <a:spcPts val="600"/>
              </a:spcAft>
              <a:defRPr sz="1600" b="0">
                <a:solidFill>
                  <a:srgbClr val="627169"/>
                </a:solidFill>
                <a:latin typeface="DejaVu Sans"/>
              </a:defRPr>
            </a:pPr>
            <a:r>
              <a:t>YouTube discovery + a Gemini teacher + organised topics + saved playback.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OPPORTUNITIES · DIFFERENTIATION · USP</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The learning context travels with the learner.</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USP: video discovery, in-context explanation, and the next useful action in one continuous journey.</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03</a:t>
            </a:r>
          </a:p>
        </p:txBody>
      </p:sp>
      <p:sp>
        <p:nvSpPr>
          <p:cNvPr id="8" name="Rectangle 7"/>
          <p:cNvSpPr/>
          <p:nvPr/>
        </p:nvSpPr>
        <p:spPr>
          <a:xfrm>
            <a:off x="502920" y="2587752"/>
            <a:ext cx="2514600" cy="438912"/>
          </a:xfrm>
          <a:prstGeom prst="rect">
            <a:avLst/>
          </a:prstGeom>
          <a:solidFill>
            <a:srgbClr val="1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2679192"/>
            <a:ext cx="2331720" cy="274320"/>
          </a:xfrm>
          <a:prstGeom prst="rect">
            <a:avLst/>
          </a:prstGeom>
          <a:noFill/>
        </p:spPr>
        <p:txBody>
          <a:bodyPr wrap="square" lIns="0" rIns="0" tIns="0" bIns="0">
            <a:spAutoFit/>
          </a:bodyPr>
          <a:lstStyle/>
          <a:p>
            <a:pPr>
              <a:spcAft>
                <a:spcPts val="600"/>
              </a:spcAft>
              <a:defRPr sz="1100" b="1">
                <a:solidFill>
                  <a:srgbClr val="FFFFFF"/>
                </a:solidFill>
                <a:latin typeface="DejaVu Sans"/>
              </a:defRPr>
            </a:pPr>
            <a:r>
              <a:t>LEARNER NEED</a:t>
            </a:r>
          </a:p>
        </p:txBody>
      </p:sp>
      <p:sp>
        <p:nvSpPr>
          <p:cNvPr id="10" name="Rectangle 9"/>
          <p:cNvSpPr/>
          <p:nvPr/>
        </p:nvSpPr>
        <p:spPr>
          <a:xfrm>
            <a:off x="3154680" y="2587752"/>
            <a:ext cx="3337560" cy="438912"/>
          </a:xfrm>
          <a:prstGeom prst="rect">
            <a:avLst/>
          </a:prstGeom>
          <a:solidFill>
            <a:srgbClr val="1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82696" y="2679192"/>
            <a:ext cx="3154679" cy="274320"/>
          </a:xfrm>
          <a:prstGeom prst="rect">
            <a:avLst/>
          </a:prstGeom>
          <a:noFill/>
        </p:spPr>
        <p:txBody>
          <a:bodyPr wrap="square" lIns="0" rIns="0" tIns="0" bIns="0">
            <a:spAutoFit/>
          </a:bodyPr>
          <a:lstStyle/>
          <a:p>
            <a:pPr>
              <a:spcAft>
                <a:spcPts val="600"/>
              </a:spcAft>
              <a:defRPr sz="1100" b="1">
                <a:solidFill>
                  <a:srgbClr val="FFFFFF"/>
                </a:solidFill>
                <a:latin typeface="DejaVu Sans"/>
              </a:defRPr>
            </a:pPr>
            <a:r>
              <a:t>FRAGMENTED WORKFLOW</a:t>
            </a:r>
          </a:p>
        </p:txBody>
      </p:sp>
      <p:sp>
        <p:nvSpPr>
          <p:cNvPr id="12" name="Rectangle 11"/>
          <p:cNvSpPr/>
          <p:nvPr/>
        </p:nvSpPr>
        <p:spPr>
          <a:xfrm>
            <a:off x="6629400" y="2587752"/>
            <a:ext cx="5056632" cy="438912"/>
          </a:xfrm>
          <a:prstGeom prst="rect">
            <a:avLst/>
          </a:prstGeom>
          <a:solidFill>
            <a:srgbClr val="1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57416" y="2679192"/>
            <a:ext cx="4873752" cy="274320"/>
          </a:xfrm>
          <a:prstGeom prst="rect">
            <a:avLst/>
          </a:prstGeom>
          <a:noFill/>
        </p:spPr>
        <p:txBody>
          <a:bodyPr wrap="square" lIns="0" rIns="0" tIns="0" bIns="0">
            <a:spAutoFit/>
          </a:bodyPr>
          <a:lstStyle/>
          <a:p>
            <a:pPr>
              <a:spcAft>
                <a:spcPts val="600"/>
              </a:spcAft>
              <a:defRPr sz="1100" b="1">
                <a:solidFill>
                  <a:srgbClr val="FFFFFF"/>
                </a:solidFill>
                <a:latin typeface="DejaVu Sans"/>
              </a:defRPr>
            </a:pPr>
            <a:r>
              <a:t>REVELINK WORKFLOW</a:t>
            </a:r>
          </a:p>
        </p:txBody>
      </p:sp>
      <p:sp>
        <p:nvSpPr>
          <p:cNvPr id="14" name="Rectangle 13"/>
          <p:cNvSpPr/>
          <p:nvPr/>
        </p:nvSpPr>
        <p:spPr>
          <a:xfrm>
            <a:off x="502920" y="3127248"/>
            <a:ext cx="25146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3218688"/>
            <a:ext cx="2258568" cy="45720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Find a useful starting point</a:t>
            </a:r>
          </a:p>
        </p:txBody>
      </p:sp>
      <p:sp>
        <p:nvSpPr>
          <p:cNvPr id="16" name="Rectangle 15"/>
          <p:cNvSpPr/>
          <p:nvPr/>
        </p:nvSpPr>
        <p:spPr>
          <a:xfrm>
            <a:off x="3154680" y="3127248"/>
            <a:ext cx="333756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82696" y="3218688"/>
            <a:ext cx="3081528"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Search for videos separately</a:t>
            </a:r>
          </a:p>
        </p:txBody>
      </p:sp>
      <p:sp>
        <p:nvSpPr>
          <p:cNvPr id="18" name="Rectangle 17"/>
          <p:cNvSpPr/>
          <p:nvPr/>
        </p:nvSpPr>
        <p:spPr>
          <a:xfrm>
            <a:off x="6629400" y="3127248"/>
            <a:ext cx="505663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57416" y="3218688"/>
            <a:ext cx="4800600"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Educational intent checks and learning-angle choices</a:t>
            </a:r>
          </a:p>
        </p:txBody>
      </p:sp>
      <p:sp>
        <p:nvSpPr>
          <p:cNvPr id="20" name="Rectangle 19"/>
          <p:cNvSpPr/>
          <p:nvPr/>
        </p:nvSpPr>
        <p:spPr>
          <a:xfrm>
            <a:off x="502920" y="3785615"/>
            <a:ext cx="25146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3877055"/>
            <a:ext cx="2258568" cy="45720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Resolve the doubt</a:t>
            </a:r>
          </a:p>
        </p:txBody>
      </p:sp>
      <p:sp>
        <p:nvSpPr>
          <p:cNvPr id="22" name="Rectangle 21"/>
          <p:cNvSpPr/>
          <p:nvPr/>
        </p:nvSpPr>
        <p:spPr>
          <a:xfrm>
            <a:off x="3154680" y="3785615"/>
            <a:ext cx="333756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82696" y="3877055"/>
            <a:ext cx="3081528"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Explain the context again in chat</a:t>
            </a:r>
          </a:p>
        </p:txBody>
      </p:sp>
      <p:sp>
        <p:nvSpPr>
          <p:cNvPr id="24" name="Rectangle 23"/>
          <p:cNvSpPr/>
          <p:nvPr/>
        </p:nvSpPr>
        <p:spPr>
          <a:xfrm>
            <a:off x="6629400" y="3785615"/>
            <a:ext cx="505663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57416" y="3877055"/>
            <a:ext cx="4800600"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Teacher uses question, conversation and eligible video</a:t>
            </a:r>
          </a:p>
        </p:txBody>
      </p:sp>
      <p:sp>
        <p:nvSpPr>
          <p:cNvPr id="26" name="Rectangle 25"/>
          <p:cNvSpPr/>
          <p:nvPr/>
        </p:nvSpPr>
        <p:spPr>
          <a:xfrm>
            <a:off x="502920" y="4443983"/>
            <a:ext cx="25146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 y="4535423"/>
            <a:ext cx="2258568" cy="45720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Act on the explanation</a:t>
            </a:r>
          </a:p>
        </p:txBody>
      </p:sp>
      <p:sp>
        <p:nvSpPr>
          <p:cNvPr id="28" name="Rectangle 27"/>
          <p:cNvSpPr/>
          <p:nvPr/>
        </p:nvSpPr>
        <p:spPr>
          <a:xfrm>
            <a:off x="3154680" y="4443983"/>
            <a:ext cx="333756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82696" y="4535423"/>
            <a:ext cx="3081528"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Find the section or search again</a:t>
            </a:r>
          </a:p>
        </p:txBody>
      </p:sp>
      <p:sp>
        <p:nvSpPr>
          <p:cNvPr id="30" name="Rectangle 29"/>
          <p:cNvSpPr/>
          <p:nvPr/>
        </p:nvSpPr>
        <p:spPr>
          <a:xfrm>
            <a:off x="6629400" y="4443983"/>
            <a:ext cx="505663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57416" y="4535423"/>
            <a:ext cx="4800600"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Jump to an AI-matched section or open a real result</a:t>
            </a:r>
          </a:p>
        </p:txBody>
      </p:sp>
      <p:sp>
        <p:nvSpPr>
          <p:cNvPr id="32" name="Rectangle 31"/>
          <p:cNvSpPr/>
          <p:nvPr/>
        </p:nvSpPr>
        <p:spPr>
          <a:xfrm>
            <a:off x="502920" y="5102352"/>
            <a:ext cx="251460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 y="5193792"/>
            <a:ext cx="2258568" cy="45720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Return to the interest</a:t>
            </a:r>
          </a:p>
        </p:txBody>
      </p:sp>
      <p:sp>
        <p:nvSpPr>
          <p:cNvPr id="34" name="Rectangle 33"/>
          <p:cNvSpPr/>
          <p:nvPr/>
        </p:nvSpPr>
        <p:spPr>
          <a:xfrm>
            <a:off x="3154680" y="5102352"/>
            <a:ext cx="333756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82696" y="5193792"/>
            <a:ext cx="3081528"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Reconstruct the previous session</a:t>
            </a:r>
          </a:p>
        </p:txBody>
      </p:sp>
      <p:sp>
        <p:nvSpPr>
          <p:cNvPr id="36" name="Rectangle 35"/>
          <p:cNvSpPr/>
          <p:nvPr/>
        </p:nvSpPr>
        <p:spPr>
          <a:xfrm>
            <a:off x="6629400" y="5102352"/>
            <a:ext cx="5056632"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57416" y="5193792"/>
            <a:ext cx="4800600" cy="457200"/>
          </a:xfrm>
          <a:prstGeom prst="rect">
            <a:avLst/>
          </a:prstGeom>
          <a:noFill/>
        </p:spPr>
        <p:txBody>
          <a:bodyPr wrap="square" lIns="0" rIns="0" tIns="0" bIns="0">
            <a:spAutoFit/>
          </a:bodyPr>
          <a:lstStyle/>
          <a:p>
            <a:pPr>
              <a:spcAft>
                <a:spcPts val="600"/>
              </a:spcAft>
              <a:defRPr sz="1300" b="0">
                <a:solidFill>
                  <a:srgbClr val="17221D"/>
                </a:solidFill>
                <a:latin typeface="DejaVu Sans"/>
              </a:defRPr>
            </a:pPr>
            <a:r>
              <a:t>Organised subjects and saved playback position</a:t>
            </a:r>
          </a:p>
        </p:txBody>
      </p:sp>
      <p:sp>
        <p:nvSpPr>
          <p:cNvPr id="38" name="TextBox 37"/>
          <p:cNvSpPr txBox="1"/>
          <p:nvPr/>
        </p:nvSpPr>
        <p:spPr>
          <a:xfrm>
            <a:off x="548640" y="5961888"/>
            <a:ext cx="10972800" cy="22860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Starting opportunity: adult self-directed learners exploring a concept, not a full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LIST OF FEATURES OFFERED</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Built around discovery, clarity, and continuity.</a:t>
            </a:r>
          </a:p>
        </p:txBody>
      </p:sp>
      <p:cxnSp>
        <p:nvCxnSpPr>
          <p:cNvPr id="4" name="Connector 3"/>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6" name="TextBox 5"/>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04</a:t>
            </a:r>
          </a:p>
        </p:txBody>
      </p:sp>
      <p:sp>
        <p:nvSpPr>
          <p:cNvPr id="7" name="Rounded Rectangle 6"/>
          <p:cNvSpPr/>
          <p:nvPr/>
        </p:nvSpPr>
        <p:spPr>
          <a:xfrm>
            <a:off x="502920" y="2121408"/>
            <a:ext cx="3520440" cy="1792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67712"/>
            <a:ext cx="3154680" cy="219456"/>
          </a:xfrm>
          <a:prstGeom prst="rect">
            <a:avLst/>
          </a:prstGeom>
          <a:noFill/>
        </p:spPr>
        <p:txBody>
          <a:bodyPr wrap="square" lIns="0" rIns="0" tIns="0" bIns="0">
            <a:spAutoFit/>
          </a:bodyPr>
          <a:lstStyle/>
          <a:p>
            <a:pPr>
              <a:spcAft>
                <a:spcPts val="600"/>
              </a:spcAft>
              <a:defRPr sz="1000" b="1">
                <a:solidFill>
                  <a:srgbClr val="176B4C"/>
                </a:solidFill>
                <a:latin typeface="DejaVu Sans"/>
              </a:defRPr>
            </a:pPr>
            <a:r>
              <a:t>01 / DISCOVER</a:t>
            </a:r>
          </a:p>
        </p:txBody>
      </p:sp>
      <p:sp>
        <p:nvSpPr>
          <p:cNvPr id="9" name="TextBox 8"/>
          <p:cNvSpPr txBox="1"/>
          <p:nvPr/>
        </p:nvSpPr>
        <p:spPr>
          <a:xfrm>
            <a:off x="685800" y="2651760"/>
            <a:ext cx="3154680" cy="365760"/>
          </a:xfrm>
          <a:prstGeom prst="rect">
            <a:avLst/>
          </a:prstGeom>
          <a:noFill/>
        </p:spPr>
        <p:txBody>
          <a:bodyPr wrap="square" lIns="0" rIns="0" tIns="0" bIns="0">
            <a:spAutoFit/>
          </a:bodyPr>
          <a:lstStyle/>
          <a:p>
            <a:pPr>
              <a:spcAft>
                <a:spcPts val="600"/>
              </a:spcAft>
              <a:defRPr sz="1800" b="1">
                <a:solidFill>
                  <a:srgbClr val="17221D"/>
                </a:solidFill>
                <a:latin typeface="DejaVu Sans"/>
              </a:defRPr>
            </a:pPr>
            <a:r>
              <a:t>Find your starting point</a:t>
            </a:r>
          </a:p>
        </p:txBody>
      </p:sp>
      <p:sp>
        <p:nvSpPr>
          <p:cNvPr id="10" name="TextBox 9"/>
          <p:cNvSpPr txBox="1"/>
          <p:nvPr/>
        </p:nvSpPr>
        <p:spPr>
          <a:xfrm>
            <a:off x="685800" y="3108960"/>
            <a:ext cx="3154680" cy="694944"/>
          </a:xfrm>
          <a:prstGeom prst="rect">
            <a:avLst/>
          </a:prstGeom>
          <a:noFill/>
        </p:spPr>
        <p:txBody>
          <a:bodyPr wrap="square" lIns="0" rIns="0" tIns="0" bIns="0">
            <a:spAutoFit/>
          </a:bodyPr>
          <a:lstStyle/>
          <a:p>
            <a:pPr>
              <a:spcAft>
                <a:spcPts val="600"/>
              </a:spcAft>
              <a:defRPr sz="1300" b="0">
                <a:solidFill>
                  <a:srgbClr val="627169"/>
                </a:solidFill>
                <a:latin typeface="DejaVu Sans"/>
              </a:defRPr>
            </a:pPr>
            <a:r>
              <a:t>Search, video results, long videos and a short-video feed.</a:t>
            </a:r>
          </a:p>
        </p:txBody>
      </p:sp>
      <p:sp>
        <p:nvSpPr>
          <p:cNvPr id="11" name="Rounded Rectangle 10"/>
          <p:cNvSpPr/>
          <p:nvPr/>
        </p:nvSpPr>
        <p:spPr>
          <a:xfrm>
            <a:off x="4325112" y="2121408"/>
            <a:ext cx="3520440" cy="1792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2267712"/>
            <a:ext cx="3154680" cy="219456"/>
          </a:xfrm>
          <a:prstGeom prst="rect">
            <a:avLst/>
          </a:prstGeom>
          <a:noFill/>
        </p:spPr>
        <p:txBody>
          <a:bodyPr wrap="square" lIns="0" rIns="0" tIns="0" bIns="0">
            <a:spAutoFit/>
          </a:bodyPr>
          <a:lstStyle/>
          <a:p>
            <a:pPr>
              <a:spcAft>
                <a:spcPts val="600"/>
              </a:spcAft>
              <a:defRPr sz="1000" b="1">
                <a:solidFill>
                  <a:srgbClr val="176B4C"/>
                </a:solidFill>
                <a:latin typeface="DejaVu Sans"/>
              </a:defRPr>
            </a:pPr>
            <a:r>
              <a:t>02 / UNDERSTAND</a:t>
            </a:r>
          </a:p>
        </p:txBody>
      </p:sp>
      <p:sp>
        <p:nvSpPr>
          <p:cNvPr id="13" name="TextBox 12"/>
          <p:cNvSpPr txBox="1"/>
          <p:nvPr/>
        </p:nvSpPr>
        <p:spPr>
          <a:xfrm>
            <a:off x="4507992" y="2651760"/>
            <a:ext cx="3154680" cy="365760"/>
          </a:xfrm>
          <a:prstGeom prst="rect">
            <a:avLst/>
          </a:prstGeom>
          <a:noFill/>
        </p:spPr>
        <p:txBody>
          <a:bodyPr wrap="square" lIns="0" rIns="0" tIns="0" bIns="0">
            <a:spAutoFit/>
          </a:bodyPr>
          <a:lstStyle/>
          <a:p>
            <a:pPr>
              <a:spcAft>
                <a:spcPts val="600"/>
              </a:spcAft>
              <a:defRPr sz="1800" b="1">
                <a:solidFill>
                  <a:srgbClr val="17221D"/>
                </a:solidFill>
                <a:latin typeface="DejaVu Sans"/>
              </a:defRPr>
            </a:pPr>
            <a:r>
              <a:t>Ask beside the video</a:t>
            </a:r>
          </a:p>
        </p:txBody>
      </p:sp>
      <p:sp>
        <p:nvSpPr>
          <p:cNvPr id="14" name="TextBox 13"/>
          <p:cNvSpPr txBox="1"/>
          <p:nvPr/>
        </p:nvSpPr>
        <p:spPr>
          <a:xfrm>
            <a:off x="4507992" y="3108960"/>
            <a:ext cx="3154680" cy="694944"/>
          </a:xfrm>
          <a:prstGeom prst="rect">
            <a:avLst/>
          </a:prstGeom>
          <a:noFill/>
        </p:spPr>
        <p:txBody>
          <a:bodyPr wrap="square" lIns="0" rIns="0" tIns="0" bIns="0">
            <a:spAutoFit/>
          </a:bodyPr>
          <a:lstStyle/>
          <a:p>
            <a:pPr>
              <a:spcAft>
                <a:spcPts val="600"/>
              </a:spcAft>
              <a:defRPr sz="1300" b="0">
                <a:solidFill>
                  <a:srgbClr val="627169"/>
                </a:solidFill>
                <a:latin typeface="DejaVu Sans"/>
              </a:defRPr>
            </a:pPr>
            <a:r>
              <a:t>Follow-ups, simpler explanations and relevant video sections.</a:t>
            </a:r>
          </a:p>
        </p:txBody>
      </p:sp>
      <p:sp>
        <p:nvSpPr>
          <p:cNvPr id="15" name="Rounded Rectangle 14"/>
          <p:cNvSpPr/>
          <p:nvPr/>
        </p:nvSpPr>
        <p:spPr>
          <a:xfrm>
            <a:off x="8147304" y="2121408"/>
            <a:ext cx="3520440" cy="1792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3" y="2267712"/>
            <a:ext cx="3154680" cy="219456"/>
          </a:xfrm>
          <a:prstGeom prst="rect">
            <a:avLst/>
          </a:prstGeom>
          <a:noFill/>
        </p:spPr>
        <p:txBody>
          <a:bodyPr wrap="square" lIns="0" rIns="0" tIns="0" bIns="0">
            <a:spAutoFit/>
          </a:bodyPr>
          <a:lstStyle/>
          <a:p>
            <a:pPr>
              <a:spcAft>
                <a:spcPts val="600"/>
              </a:spcAft>
              <a:defRPr sz="1000" b="1">
                <a:solidFill>
                  <a:srgbClr val="176B4C"/>
                </a:solidFill>
                <a:latin typeface="DejaVu Sans"/>
              </a:defRPr>
            </a:pPr>
            <a:r>
              <a:t>03 / CONTINUE</a:t>
            </a:r>
          </a:p>
        </p:txBody>
      </p:sp>
      <p:sp>
        <p:nvSpPr>
          <p:cNvPr id="17" name="TextBox 16"/>
          <p:cNvSpPr txBox="1"/>
          <p:nvPr/>
        </p:nvSpPr>
        <p:spPr>
          <a:xfrm>
            <a:off x="8330183" y="2651760"/>
            <a:ext cx="3154680" cy="365760"/>
          </a:xfrm>
          <a:prstGeom prst="rect">
            <a:avLst/>
          </a:prstGeom>
          <a:noFill/>
        </p:spPr>
        <p:txBody>
          <a:bodyPr wrap="square" lIns="0" rIns="0" tIns="0" bIns="0">
            <a:spAutoFit/>
          </a:bodyPr>
          <a:lstStyle/>
          <a:p>
            <a:pPr>
              <a:spcAft>
                <a:spcPts val="600"/>
              </a:spcAft>
              <a:defRPr sz="1800" b="1">
                <a:solidFill>
                  <a:srgbClr val="17221D"/>
                </a:solidFill>
                <a:latin typeface="DejaVu Sans"/>
              </a:defRPr>
            </a:pPr>
            <a:r>
              <a:t>Resume your learning</a:t>
            </a:r>
          </a:p>
        </p:txBody>
      </p:sp>
      <p:sp>
        <p:nvSpPr>
          <p:cNvPr id="18" name="TextBox 17"/>
          <p:cNvSpPr txBox="1"/>
          <p:nvPr/>
        </p:nvSpPr>
        <p:spPr>
          <a:xfrm>
            <a:off x="8330183" y="3108960"/>
            <a:ext cx="3154680" cy="694944"/>
          </a:xfrm>
          <a:prstGeom prst="rect">
            <a:avLst/>
          </a:prstGeom>
          <a:noFill/>
        </p:spPr>
        <p:txBody>
          <a:bodyPr wrap="square" lIns="0" rIns="0" tIns="0" bIns="0">
            <a:spAutoFit/>
          </a:bodyPr>
          <a:lstStyle/>
          <a:p>
            <a:pPr>
              <a:spcAft>
                <a:spcPts val="600"/>
              </a:spcAft>
              <a:defRPr sz="1300" b="0">
                <a:solidFill>
                  <a:srgbClr val="627169"/>
                </a:solidFill>
                <a:latin typeface="DejaVu Sans"/>
              </a:defRPr>
            </a:pPr>
            <a:r>
              <a:t>Saved topics, watch history and last playback position.</a:t>
            </a:r>
          </a:p>
        </p:txBody>
      </p:sp>
      <p:sp>
        <p:nvSpPr>
          <p:cNvPr id="19" name="Rounded Rectangle 18"/>
          <p:cNvSpPr/>
          <p:nvPr/>
        </p:nvSpPr>
        <p:spPr>
          <a:xfrm>
            <a:off x="502920" y="4105656"/>
            <a:ext cx="3520440" cy="1792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251960"/>
            <a:ext cx="3154680" cy="219456"/>
          </a:xfrm>
          <a:prstGeom prst="rect">
            <a:avLst/>
          </a:prstGeom>
          <a:noFill/>
        </p:spPr>
        <p:txBody>
          <a:bodyPr wrap="square" lIns="0" rIns="0" tIns="0" bIns="0">
            <a:spAutoFit/>
          </a:bodyPr>
          <a:lstStyle/>
          <a:p>
            <a:pPr>
              <a:spcAft>
                <a:spcPts val="600"/>
              </a:spcAft>
              <a:defRPr sz="1000" b="1">
                <a:solidFill>
                  <a:srgbClr val="176B4C"/>
                </a:solidFill>
                <a:latin typeface="DejaVu Sans"/>
              </a:defRPr>
            </a:pPr>
            <a:r>
              <a:t>04 / ORGANISE</a:t>
            </a:r>
          </a:p>
        </p:txBody>
      </p:sp>
      <p:sp>
        <p:nvSpPr>
          <p:cNvPr id="21" name="TextBox 20"/>
          <p:cNvSpPr txBox="1"/>
          <p:nvPr/>
        </p:nvSpPr>
        <p:spPr>
          <a:xfrm>
            <a:off x="685800" y="4636008"/>
            <a:ext cx="3154680" cy="365760"/>
          </a:xfrm>
          <a:prstGeom prst="rect">
            <a:avLst/>
          </a:prstGeom>
          <a:noFill/>
        </p:spPr>
        <p:txBody>
          <a:bodyPr wrap="square" lIns="0" rIns="0" tIns="0" bIns="0">
            <a:spAutoFit/>
          </a:bodyPr>
          <a:lstStyle/>
          <a:p>
            <a:pPr>
              <a:spcAft>
                <a:spcPts val="600"/>
              </a:spcAft>
              <a:defRPr sz="1800" b="1">
                <a:solidFill>
                  <a:srgbClr val="17221D"/>
                </a:solidFill>
                <a:latin typeface="DejaVu Sans"/>
              </a:defRPr>
            </a:pPr>
            <a:r>
              <a:t>Explore three Universes</a:t>
            </a:r>
          </a:p>
        </p:txBody>
      </p:sp>
      <p:sp>
        <p:nvSpPr>
          <p:cNvPr id="22" name="TextBox 21"/>
          <p:cNvSpPr txBox="1"/>
          <p:nvPr/>
        </p:nvSpPr>
        <p:spPr>
          <a:xfrm>
            <a:off x="685800" y="5093208"/>
            <a:ext cx="3154680" cy="694944"/>
          </a:xfrm>
          <a:prstGeom prst="rect">
            <a:avLst/>
          </a:prstGeom>
          <a:noFill/>
        </p:spPr>
        <p:txBody>
          <a:bodyPr wrap="square" lIns="0" rIns="0" tIns="0" bIns="0">
            <a:spAutoFit/>
          </a:bodyPr>
          <a:lstStyle/>
          <a:p>
            <a:pPr>
              <a:spcAft>
                <a:spcPts val="600"/>
              </a:spcAft>
              <a:defRPr sz="1300" b="0">
                <a:solidFill>
                  <a:srgbClr val="627169"/>
                </a:solidFill>
                <a:latin typeface="DejaVu Sans"/>
              </a:defRPr>
            </a:pPr>
            <a:r>
              <a:t>Science &amp; Technology; Commerce &amp; Business; Arts &amp; Humanities.</a:t>
            </a:r>
          </a:p>
        </p:txBody>
      </p:sp>
      <p:sp>
        <p:nvSpPr>
          <p:cNvPr id="23" name="Rounded Rectangle 22"/>
          <p:cNvSpPr/>
          <p:nvPr/>
        </p:nvSpPr>
        <p:spPr>
          <a:xfrm>
            <a:off x="4325112" y="4105656"/>
            <a:ext cx="3520440" cy="1792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7992" y="4251960"/>
            <a:ext cx="3154680" cy="219456"/>
          </a:xfrm>
          <a:prstGeom prst="rect">
            <a:avLst/>
          </a:prstGeom>
          <a:noFill/>
        </p:spPr>
        <p:txBody>
          <a:bodyPr wrap="square" lIns="0" rIns="0" tIns="0" bIns="0">
            <a:spAutoFit/>
          </a:bodyPr>
          <a:lstStyle/>
          <a:p>
            <a:pPr>
              <a:spcAft>
                <a:spcPts val="600"/>
              </a:spcAft>
              <a:defRPr sz="1000" b="1">
                <a:solidFill>
                  <a:srgbClr val="176B4C"/>
                </a:solidFill>
                <a:latin typeface="DejaVu Sans"/>
              </a:defRPr>
            </a:pPr>
            <a:r>
              <a:t>05 / STAY ON TASK</a:t>
            </a:r>
          </a:p>
        </p:txBody>
      </p:sp>
      <p:sp>
        <p:nvSpPr>
          <p:cNvPr id="25" name="TextBox 24"/>
          <p:cNvSpPr txBox="1"/>
          <p:nvPr/>
        </p:nvSpPr>
        <p:spPr>
          <a:xfrm>
            <a:off x="4507992" y="4636008"/>
            <a:ext cx="3154680" cy="365760"/>
          </a:xfrm>
          <a:prstGeom prst="rect">
            <a:avLst/>
          </a:prstGeom>
          <a:noFill/>
        </p:spPr>
        <p:txBody>
          <a:bodyPr wrap="square" lIns="0" rIns="0" tIns="0" bIns="0">
            <a:spAutoFit/>
          </a:bodyPr>
          <a:lstStyle/>
          <a:p>
            <a:pPr>
              <a:spcAft>
                <a:spcPts val="600"/>
              </a:spcAft>
              <a:defRPr sz="1800" b="1">
                <a:solidFill>
                  <a:srgbClr val="17221D"/>
                </a:solidFill>
                <a:latin typeface="DejaVu Sans"/>
              </a:defRPr>
            </a:pPr>
            <a:r>
              <a:t>Guide learning intent</a:t>
            </a:r>
          </a:p>
        </p:txBody>
      </p:sp>
      <p:sp>
        <p:nvSpPr>
          <p:cNvPr id="26" name="TextBox 25"/>
          <p:cNvSpPr txBox="1"/>
          <p:nvPr/>
        </p:nvSpPr>
        <p:spPr>
          <a:xfrm>
            <a:off x="4507992" y="5093208"/>
            <a:ext cx="3154680" cy="694944"/>
          </a:xfrm>
          <a:prstGeom prst="rect">
            <a:avLst/>
          </a:prstGeom>
          <a:noFill/>
        </p:spPr>
        <p:txBody>
          <a:bodyPr wrap="square" lIns="0" rIns="0" tIns="0" bIns="0">
            <a:spAutoFit/>
          </a:bodyPr>
          <a:lstStyle/>
          <a:p>
            <a:pPr>
              <a:spcAft>
                <a:spcPts val="600"/>
              </a:spcAft>
              <a:defRPr sz="1300" b="0">
                <a:solidFill>
                  <a:srgbClr val="627169"/>
                </a:solidFill>
                <a:latin typeface="DejaVu Sans"/>
              </a:defRPr>
            </a:pPr>
            <a:r>
              <a:t>Clarify ambiguous intent; filter results using metadata.</a:t>
            </a:r>
          </a:p>
        </p:txBody>
      </p:sp>
      <p:sp>
        <p:nvSpPr>
          <p:cNvPr id="27" name="Rounded Rectangle 26"/>
          <p:cNvSpPr/>
          <p:nvPr/>
        </p:nvSpPr>
        <p:spPr>
          <a:xfrm>
            <a:off x="8147304" y="4105656"/>
            <a:ext cx="3520440" cy="17922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0183" y="4251960"/>
            <a:ext cx="3154680" cy="219456"/>
          </a:xfrm>
          <a:prstGeom prst="rect">
            <a:avLst/>
          </a:prstGeom>
          <a:noFill/>
        </p:spPr>
        <p:txBody>
          <a:bodyPr wrap="square" lIns="0" rIns="0" tIns="0" bIns="0">
            <a:spAutoFit/>
          </a:bodyPr>
          <a:lstStyle/>
          <a:p>
            <a:pPr>
              <a:spcAft>
                <a:spcPts val="600"/>
              </a:spcAft>
              <a:defRPr sz="1000" b="1">
                <a:solidFill>
                  <a:srgbClr val="176B4C"/>
                </a:solidFill>
                <a:latin typeface="DejaVu Sans"/>
              </a:defRPr>
            </a:pPr>
            <a:r>
              <a:t>06 / RESET</a:t>
            </a:r>
          </a:p>
        </p:txBody>
      </p:sp>
      <p:sp>
        <p:nvSpPr>
          <p:cNvPr id="29" name="TextBox 28"/>
          <p:cNvSpPr txBox="1"/>
          <p:nvPr/>
        </p:nvSpPr>
        <p:spPr>
          <a:xfrm>
            <a:off x="8330183" y="4636008"/>
            <a:ext cx="3154680" cy="365760"/>
          </a:xfrm>
          <a:prstGeom prst="rect">
            <a:avLst/>
          </a:prstGeom>
          <a:noFill/>
        </p:spPr>
        <p:txBody>
          <a:bodyPr wrap="square" lIns="0" rIns="0" tIns="0" bIns="0">
            <a:spAutoFit/>
          </a:bodyPr>
          <a:lstStyle/>
          <a:p>
            <a:pPr>
              <a:spcAft>
                <a:spcPts val="600"/>
              </a:spcAft>
              <a:defRPr sz="1800" b="1">
                <a:solidFill>
                  <a:srgbClr val="17221D"/>
                </a:solidFill>
                <a:latin typeface="DejaVu Sans"/>
              </a:defRPr>
            </a:pPr>
            <a:r>
              <a:t>Take a bounded break</a:t>
            </a:r>
          </a:p>
        </p:txBody>
      </p:sp>
      <p:sp>
        <p:nvSpPr>
          <p:cNvPr id="30" name="TextBox 29"/>
          <p:cNvSpPr txBox="1"/>
          <p:nvPr/>
        </p:nvSpPr>
        <p:spPr>
          <a:xfrm>
            <a:off x="8330183" y="5093208"/>
            <a:ext cx="3154680" cy="694944"/>
          </a:xfrm>
          <a:prstGeom prst="rect">
            <a:avLst/>
          </a:prstGeom>
          <a:noFill/>
        </p:spPr>
        <p:txBody>
          <a:bodyPr wrap="square" lIns="0" rIns="0" tIns="0" bIns="0">
            <a:spAutoFit/>
          </a:bodyPr>
          <a:lstStyle/>
          <a:p>
            <a:pPr>
              <a:spcAft>
                <a:spcPts val="600"/>
              </a:spcAft>
              <a:defRPr sz="1300" b="0">
                <a:solidFill>
                  <a:srgbClr val="627169"/>
                </a:solidFill>
                <a:latin typeface="DejaVu Sans"/>
              </a:defRPr>
            </a:pPr>
            <a:r>
              <a:t>Optional topic-related clips after 12 active minutes; at most three.</a:t>
            </a:r>
          </a:p>
        </p:txBody>
      </p:sp>
      <p:sp>
        <p:nvSpPr>
          <p:cNvPr id="31" name="TextBox 30"/>
          <p:cNvSpPr txBox="1"/>
          <p:nvPr/>
        </p:nvSpPr>
        <p:spPr>
          <a:xfrm>
            <a:off x="548640" y="6199632"/>
            <a:ext cx="10972800" cy="155448"/>
          </a:xfrm>
          <a:prstGeom prst="rect">
            <a:avLst/>
          </a:prstGeom>
          <a:noFill/>
        </p:spPr>
        <p:txBody>
          <a:bodyPr wrap="square" lIns="0" rIns="0" tIns="0" bIns="0">
            <a:spAutoFit/>
          </a:bodyPr>
          <a:lstStyle/>
          <a:p>
            <a:pPr>
              <a:spcAft>
                <a:spcPts val="600"/>
              </a:spcAft>
              <a:defRPr sz="900" b="0">
                <a:solidFill>
                  <a:srgbClr val="627169"/>
                </a:solidFill>
                <a:latin typeface="DejaVu Sans"/>
              </a:defRPr>
            </a:pPr>
            <a:r>
              <a:t>Latest local build shown. Public demo is an earlier revision; learning outcomes have not yet been measured.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PROCESS FLOW DIAGRAM</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From “I wonder…” to “I can keep going.”</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Illustrative GPU journey • implemented paths; AI decisions can be uncertain.</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05</a:t>
            </a:r>
          </a:p>
        </p:txBody>
      </p:sp>
      <p:sp>
        <p:nvSpPr>
          <p:cNvPr id="8" name="Rounded Rectangle 7"/>
          <p:cNvSpPr/>
          <p:nvPr/>
        </p:nvSpPr>
        <p:spPr>
          <a:xfrm>
            <a:off x="502920" y="2743200"/>
            <a:ext cx="2066543" cy="1554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2898648"/>
            <a:ext cx="1737360" cy="292608"/>
          </a:xfrm>
          <a:prstGeom prst="rect">
            <a:avLst/>
          </a:prstGeom>
          <a:noFill/>
        </p:spPr>
        <p:txBody>
          <a:bodyPr wrap="square" lIns="0" rIns="0" tIns="0" bIns="0">
            <a:spAutoFit/>
          </a:bodyPr>
          <a:lstStyle/>
          <a:p>
            <a:pPr>
              <a:spcAft>
                <a:spcPts val="600"/>
              </a:spcAft>
              <a:defRPr sz="1600" b="1">
                <a:solidFill>
                  <a:srgbClr val="176B4C"/>
                </a:solidFill>
                <a:latin typeface="DejaVu Sans"/>
              </a:defRPr>
            </a:pPr>
            <a:r>
              <a:t>01</a:t>
            </a:r>
          </a:p>
        </p:txBody>
      </p:sp>
      <p:sp>
        <p:nvSpPr>
          <p:cNvPr id="10" name="TextBox 9"/>
          <p:cNvSpPr txBox="1"/>
          <p:nvPr/>
        </p:nvSpPr>
        <p:spPr>
          <a:xfrm>
            <a:off x="649224" y="3346704"/>
            <a:ext cx="1737360" cy="320040"/>
          </a:xfrm>
          <a:prstGeom prst="rect">
            <a:avLst/>
          </a:prstGeom>
          <a:noFill/>
        </p:spPr>
        <p:txBody>
          <a:bodyPr wrap="square" lIns="0" rIns="0" tIns="0" bIns="0">
            <a:spAutoFit/>
          </a:bodyPr>
          <a:lstStyle/>
          <a:p>
            <a:pPr>
              <a:spcAft>
                <a:spcPts val="600"/>
              </a:spcAft>
              <a:defRPr sz="1700" b="1">
                <a:solidFill>
                  <a:srgbClr val="17221D"/>
                </a:solidFill>
                <a:latin typeface="DejaVu Sans"/>
              </a:defRPr>
            </a:pPr>
            <a:r>
              <a:t>SEARCH</a:t>
            </a:r>
          </a:p>
        </p:txBody>
      </p:sp>
      <p:sp>
        <p:nvSpPr>
          <p:cNvPr id="11" name="TextBox 10"/>
          <p:cNvSpPr txBox="1"/>
          <p:nvPr/>
        </p:nvSpPr>
        <p:spPr>
          <a:xfrm>
            <a:off x="649224" y="3767328"/>
            <a:ext cx="1792224" cy="45720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“How do GPUs work?”</a:t>
            </a:r>
          </a:p>
        </p:txBody>
      </p:sp>
      <p:sp>
        <p:nvSpPr>
          <p:cNvPr id="12" name="TextBox 11"/>
          <p:cNvSpPr txBox="1"/>
          <p:nvPr/>
        </p:nvSpPr>
        <p:spPr>
          <a:xfrm>
            <a:off x="2578608" y="3310128"/>
            <a:ext cx="201168" cy="365760"/>
          </a:xfrm>
          <a:prstGeom prst="rect">
            <a:avLst/>
          </a:prstGeom>
          <a:noFill/>
        </p:spPr>
        <p:txBody>
          <a:bodyPr wrap="square" lIns="0" rIns="0" tIns="0" bIns="0">
            <a:spAutoFit/>
          </a:bodyPr>
          <a:lstStyle/>
          <a:p>
            <a:pPr>
              <a:spcAft>
                <a:spcPts val="600"/>
              </a:spcAft>
              <a:defRPr sz="2300" b="1">
                <a:solidFill>
                  <a:srgbClr val="176B4C"/>
                </a:solidFill>
                <a:latin typeface="DejaVu Sans"/>
              </a:defRPr>
            </a:pPr>
            <a:r>
              <a:t>›</a:t>
            </a:r>
          </a:p>
        </p:txBody>
      </p:sp>
      <p:sp>
        <p:nvSpPr>
          <p:cNvPr id="13" name="Rounded Rectangle 12"/>
          <p:cNvSpPr/>
          <p:nvPr/>
        </p:nvSpPr>
        <p:spPr>
          <a:xfrm>
            <a:off x="2779776" y="2743200"/>
            <a:ext cx="2066543" cy="1554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2898648"/>
            <a:ext cx="1737360" cy="292608"/>
          </a:xfrm>
          <a:prstGeom prst="rect">
            <a:avLst/>
          </a:prstGeom>
          <a:noFill/>
        </p:spPr>
        <p:txBody>
          <a:bodyPr wrap="square" lIns="0" rIns="0" tIns="0" bIns="0">
            <a:spAutoFit/>
          </a:bodyPr>
          <a:lstStyle/>
          <a:p>
            <a:pPr>
              <a:spcAft>
                <a:spcPts val="600"/>
              </a:spcAft>
              <a:defRPr sz="1600" b="1">
                <a:solidFill>
                  <a:srgbClr val="176B4C"/>
                </a:solidFill>
                <a:latin typeface="DejaVu Sans"/>
              </a:defRPr>
            </a:pPr>
            <a:r>
              <a:t>02</a:t>
            </a:r>
          </a:p>
        </p:txBody>
      </p:sp>
      <p:sp>
        <p:nvSpPr>
          <p:cNvPr id="15" name="TextBox 14"/>
          <p:cNvSpPr txBox="1"/>
          <p:nvPr/>
        </p:nvSpPr>
        <p:spPr>
          <a:xfrm>
            <a:off x="2926080" y="3346704"/>
            <a:ext cx="1737360" cy="320040"/>
          </a:xfrm>
          <a:prstGeom prst="rect">
            <a:avLst/>
          </a:prstGeom>
          <a:noFill/>
        </p:spPr>
        <p:txBody>
          <a:bodyPr wrap="square" lIns="0" rIns="0" tIns="0" bIns="0">
            <a:spAutoFit/>
          </a:bodyPr>
          <a:lstStyle/>
          <a:p>
            <a:pPr>
              <a:spcAft>
                <a:spcPts val="600"/>
              </a:spcAft>
              <a:defRPr sz="1700" b="1">
                <a:solidFill>
                  <a:srgbClr val="17221D"/>
                </a:solidFill>
                <a:latin typeface="DejaVu Sans"/>
              </a:defRPr>
            </a:pPr>
            <a:r>
              <a:t>CHOOSE</a:t>
            </a:r>
          </a:p>
        </p:txBody>
      </p:sp>
      <p:sp>
        <p:nvSpPr>
          <p:cNvPr id="16" name="TextBox 15"/>
          <p:cNvSpPr txBox="1"/>
          <p:nvPr/>
        </p:nvSpPr>
        <p:spPr>
          <a:xfrm>
            <a:off x="2926080" y="3767328"/>
            <a:ext cx="1792224" cy="45720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Clarify intent if needed</a:t>
            </a:r>
          </a:p>
        </p:txBody>
      </p:sp>
      <p:sp>
        <p:nvSpPr>
          <p:cNvPr id="17" name="TextBox 16"/>
          <p:cNvSpPr txBox="1"/>
          <p:nvPr/>
        </p:nvSpPr>
        <p:spPr>
          <a:xfrm>
            <a:off x="4855464" y="3310128"/>
            <a:ext cx="201168" cy="365760"/>
          </a:xfrm>
          <a:prstGeom prst="rect">
            <a:avLst/>
          </a:prstGeom>
          <a:noFill/>
        </p:spPr>
        <p:txBody>
          <a:bodyPr wrap="square" lIns="0" rIns="0" tIns="0" bIns="0">
            <a:spAutoFit/>
          </a:bodyPr>
          <a:lstStyle/>
          <a:p>
            <a:pPr>
              <a:spcAft>
                <a:spcPts val="600"/>
              </a:spcAft>
              <a:defRPr sz="2300" b="1">
                <a:solidFill>
                  <a:srgbClr val="176B4C"/>
                </a:solidFill>
                <a:latin typeface="DejaVu Sans"/>
              </a:defRPr>
            </a:pPr>
            <a:r>
              <a:t>›</a:t>
            </a:r>
          </a:p>
        </p:txBody>
      </p:sp>
      <p:sp>
        <p:nvSpPr>
          <p:cNvPr id="18" name="Rounded Rectangle 17"/>
          <p:cNvSpPr/>
          <p:nvPr/>
        </p:nvSpPr>
        <p:spPr>
          <a:xfrm>
            <a:off x="5056632" y="2743200"/>
            <a:ext cx="2066543" cy="1554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02936" y="2898648"/>
            <a:ext cx="1737360" cy="292608"/>
          </a:xfrm>
          <a:prstGeom prst="rect">
            <a:avLst/>
          </a:prstGeom>
          <a:noFill/>
        </p:spPr>
        <p:txBody>
          <a:bodyPr wrap="square" lIns="0" rIns="0" tIns="0" bIns="0">
            <a:spAutoFit/>
          </a:bodyPr>
          <a:lstStyle/>
          <a:p>
            <a:pPr>
              <a:spcAft>
                <a:spcPts val="600"/>
              </a:spcAft>
              <a:defRPr sz="1600" b="1">
                <a:solidFill>
                  <a:srgbClr val="176B4C"/>
                </a:solidFill>
                <a:latin typeface="DejaVu Sans"/>
              </a:defRPr>
            </a:pPr>
            <a:r>
              <a:t>03</a:t>
            </a:r>
          </a:p>
        </p:txBody>
      </p:sp>
      <p:sp>
        <p:nvSpPr>
          <p:cNvPr id="20" name="TextBox 19"/>
          <p:cNvSpPr txBox="1"/>
          <p:nvPr/>
        </p:nvSpPr>
        <p:spPr>
          <a:xfrm>
            <a:off x="5202936" y="3346704"/>
            <a:ext cx="1737360" cy="320040"/>
          </a:xfrm>
          <a:prstGeom prst="rect">
            <a:avLst/>
          </a:prstGeom>
          <a:noFill/>
        </p:spPr>
        <p:txBody>
          <a:bodyPr wrap="square" lIns="0" rIns="0" tIns="0" bIns="0">
            <a:spAutoFit/>
          </a:bodyPr>
          <a:lstStyle/>
          <a:p>
            <a:pPr>
              <a:spcAft>
                <a:spcPts val="600"/>
              </a:spcAft>
              <a:defRPr sz="1700" b="1">
                <a:solidFill>
                  <a:srgbClr val="17221D"/>
                </a:solidFill>
                <a:latin typeface="DejaVu Sans"/>
              </a:defRPr>
            </a:pPr>
            <a:r>
              <a:t>WATCH</a:t>
            </a:r>
          </a:p>
        </p:txBody>
      </p:sp>
      <p:sp>
        <p:nvSpPr>
          <p:cNvPr id="21" name="TextBox 20"/>
          <p:cNvSpPr txBox="1"/>
          <p:nvPr/>
        </p:nvSpPr>
        <p:spPr>
          <a:xfrm>
            <a:off x="5202936" y="3767328"/>
            <a:ext cx="1792224" cy="45720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Open a learning video</a:t>
            </a:r>
          </a:p>
        </p:txBody>
      </p:sp>
      <p:sp>
        <p:nvSpPr>
          <p:cNvPr id="22" name="TextBox 21"/>
          <p:cNvSpPr txBox="1"/>
          <p:nvPr/>
        </p:nvSpPr>
        <p:spPr>
          <a:xfrm>
            <a:off x="7132320" y="3310128"/>
            <a:ext cx="201168" cy="365760"/>
          </a:xfrm>
          <a:prstGeom prst="rect">
            <a:avLst/>
          </a:prstGeom>
          <a:noFill/>
        </p:spPr>
        <p:txBody>
          <a:bodyPr wrap="square" lIns="0" rIns="0" tIns="0" bIns="0">
            <a:spAutoFit/>
          </a:bodyPr>
          <a:lstStyle/>
          <a:p>
            <a:pPr>
              <a:spcAft>
                <a:spcPts val="600"/>
              </a:spcAft>
              <a:defRPr sz="2300" b="1">
                <a:solidFill>
                  <a:srgbClr val="176B4C"/>
                </a:solidFill>
                <a:latin typeface="DejaVu Sans"/>
              </a:defRPr>
            </a:pPr>
            <a:r>
              <a:t>›</a:t>
            </a:r>
          </a:p>
        </p:txBody>
      </p:sp>
      <p:sp>
        <p:nvSpPr>
          <p:cNvPr id="23" name="Rounded Rectangle 22"/>
          <p:cNvSpPr/>
          <p:nvPr/>
        </p:nvSpPr>
        <p:spPr>
          <a:xfrm>
            <a:off x="7333488" y="2743200"/>
            <a:ext cx="2066543" cy="1554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9792" y="2898648"/>
            <a:ext cx="1737360" cy="292608"/>
          </a:xfrm>
          <a:prstGeom prst="rect">
            <a:avLst/>
          </a:prstGeom>
          <a:noFill/>
        </p:spPr>
        <p:txBody>
          <a:bodyPr wrap="square" lIns="0" rIns="0" tIns="0" bIns="0">
            <a:spAutoFit/>
          </a:bodyPr>
          <a:lstStyle/>
          <a:p>
            <a:pPr>
              <a:spcAft>
                <a:spcPts val="600"/>
              </a:spcAft>
              <a:defRPr sz="1600" b="1">
                <a:solidFill>
                  <a:srgbClr val="176B4C"/>
                </a:solidFill>
                <a:latin typeface="DejaVu Sans"/>
              </a:defRPr>
            </a:pPr>
            <a:r>
              <a:t>04</a:t>
            </a:r>
          </a:p>
        </p:txBody>
      </p:sp>
      <p:sp>
        <p:nvSpPr>
          <p:cNvPr id="25" name="TextBox 24"/>
          <p:cNvSpPr txBox="1"/>
          <p:nvPr/>
        </p:nvSpPr>
        <p:spPr>
          <a:xfrm>
            <a:off x="7479792" y="3346704"/>
            <a:ext cx="1737360" cy="320040"/>
          </a:xfrm>
          <a:prstGeom prst="rect">
            <a:avLst/>
          </a:prstGeom>
          <a:noFill/>
        </p:spPr>
        <p:txBody>
          <a:bodyPr wrap="square" lIns="0" rIns="0" tIns="0" bIns="0">
            <a:spAutoFit/>
          </a:bodyPr>
          <a:lstStyle/>
          <a:p>
            <a:pPr>
              <a:spcAft>
                <a:spcPts val="600"/>
              </a:spcAft>
              <a:defRPr sz="1700" b="1">
                <a:solidFill>
                  <a:srgbClr val="17221D"/>
                </a:solidFill>
                <a:latin typeface="DejaVu Sans"/>
              </a:defRPr>
            </a:pPr>
            <a:r>
              <a:t>ASK</a:t>
            </a:r>
          </a:p>
        </p:txBody>
      </p:sp>
      <p:sp>
        <p:nvSpPr>
          <p:cNvPr id="26" name="TextBox 25"/>
          <p:cNvSpPr txBox="1"/>
          <p:nvPr/>
        </p:nvSpPr>
        <p:spPr>
          <a:xfrm>
            <a:off x="7479792" y="3767328"/>
            <a:ext cx="1792224" cy="45720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“Why useful for AI?”</a:t>
            </a:r>
          </a:p>
        </p:txBody>
      </p:sp>
      <p:sp>
        <p:nvSpPr>
          <p:cNvPr id="27" name="TextBox 26"/>
          <p:cNvSpPr txBox="1"/>
          <p:nvPr/>
        </p:nvSpPr>
        <p:spPr>
          <a:xfrm>
            <a:off x="9409176" y="3310128"/>
            <a:ext cx="201168" cy="365760"/>
          </a:xfrm>
          <a:prstGeom prst="rect">
            <a:avLst/>
          </a:prstGeom>
          <a:noFill/>
        </p:spPr>
        <p:txBody>
          <a:bodyPr wrap="square" lIns="0" rIns="0" tIns="0" bIns="0">
            <a:spAutoFit/>
          </a:bodyPr>
          <a:lstStyle/>
          <a:p>
            <a:pPr>
              <a:spcAft>
                <a:spcPts val="600"/>
              </a:spcAft>
              <a:defRPr sz="2300" b="1">
                <a:solidFill>
                  <a:srgbClr val="176B4C"/>
                </a:solidFill>
                <a:latin typeface="DejaVu Sans"/>
              </a:defRPr>
            </a:pPr>
            <a:r>
              <a:t>›</a:t>
            </a:r>
          </a:p>
        </p:txBody>
      </p:sp>
      <p:sp>
        <p:nvSpPr>
          <p:cNvPr id="28" name="Rounded Rectangle 27"/>
          <p:cNvSpPr/>
          <p:nvPr/>
        </p:nvSpPr>
        <p:spPr>
          <a:xfrm>
            <a:off x="9610344" y="2743200"/>
            <a:ext cx="2066543" cy="1554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56648" y="2898648"/>
            <a:ext cx="1737360" cy="292608"/>
          </a:xfrm>
          <a:prstGeom prst="rect">
            <a:avLst/>
          </a:prstGeom>
          <a:noFill/>
        </p:spPr>
        <p:txBody>
          <a:bodyPr wrap="square" lIns="0" rIns="0" tIns="0" bIns="0">
            <a:spAutoFit/>
          </a:bodyPr>
          <a:lstStyle/>
          <a:p>
            <a:pPr>
              <a:spcAft>
                <a:spcPts val="600"/>
              </a:spcAft>
              <a:defRPr sz="1600" b="1">
                <a:solidFill>
                  <a:srgbClr val="176B4C"/>
                </a:solidFill>
                <a:latin typeface="DejaVu Sans"/>
              </a:defRPr>
            </a:pPr>
            <a:r>
              <a:t>05</a:t>
            </a:r>
          </a:p>
        </p:txBody>
      </p:sp>
      <p:sp>
        <p:nvSpPr>
          <p:cNvPr id="30" name="TextBox 29"/>
          <p:cNvSpPr txBox="1"/>
          <p:nvPr/>
        </p:nvSpPr>
        <p:spPr>
          <a:xfrm>
            <a:off x="9756648" y="3346704"/>
            <a:ext cx="1737360" cy="320040"/>
          </a:xfrm>
          <a:prstGeom prst="rect">
            <a:avLst/>
          </a:prstGeom>
          <a:noFill/>
        </p:spPr>
        <p:txBody>
          <a:bodyPr wrap="square" lIns="0" rIns="0" tIns="0" bIns="0">
            <a:spAutoFit/>
          </a:bodyPr>
          <a:lstStyle/>
          <a:p>
            <a:pPr>
              <a:spcAft>
                <a:spcPts val="600"/>
              </a:spcAft>
              <a:defRPr sz="1700" b="1">
                <a:solidFill>
                  <a:srgbClr val="17221D"/>
                </a:solidFill>
                <a:latin typeface="DejaVu Sans"/>
              </a:defRPr>
            </a:pPr>
            <a:r>
              <a:t>CONTINUE</a:t>
            </a:r>
          </a:p>
        </p:txBody>
      </p:sp>
      <p:sp>
        <p:nvSpPr>
          <p:cNvPr id="31" name="TextBox 30"/>
          <p:cNvSpPr txBox="1"/>
          <p:nvPr/>
        </p:nvSpPr>
        <p:spPr>
          <a:xfrm>
            <a:off x="9756648" y="3767328"/>
            <a:ext cx="1792224" cy="45720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Resume or explore next</a:t>
            </a:r>
          </a:p>
        </p:txBody>
      </p:sp>
      <p:sp>
        <p:nvSpPr>
          <p:cNvPr id="32" name="Rounded Rectangle 31"/>
          <p:cNvSpPr/>
          <p:nvPr/>
        </p:nvSpPr>
        <p:spPr>
          <a:xfrm>
            <a:off x="2788920" y="4681728"/>
            <a:ext cx="6611112" cy="1005840"/>
          </a:xfrm>
          <a:prstGeom prst="roundRect">
            <a:avLst>
              <a:gd name="adj" fmla="val 12000"/>
            </a:avLst>
          </a:prstGeom>
          <a:solidFill>
            <a:srgbClr val="E6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90088" y="4828032"/>
            <a:ext cx="6217920" cy="658368"/>
          </a:xfrm>
          <a:prstGeom prst="rect">
            <a:avLst/>
          </a:prstGeom>
          <a:noFill/>
        </p:spPr>
        <p:txBody>
          <a:bodyPr wrap="square" lIns="0" rIns="0" tIns="0" bIns="0">
            <a:spAutoFit/>
          </a:bodyPr>
          <a:lstStyle/>
          <a:p>
            <a:pPr>
              <a:spcAft>
                <a:spcPts val="600"/>
              </a:spcAft>
              <a:defRPr sz="1500" b="1">
                <a:solidFill>
                  <a:srgbClr val="176B4C"/>
                </a:solidFill>
                <a:latin typeface="DejaVu Sans"/>
              </a:defRPr>
            </a:pPr>
            <a:r>
              <a:t>Teacher decision</a:t>
            </a:r>
          </a:p>
          <a:p>
            <a:pPr>
              <a:spcAft>
                <a:spcPts val="600"/>
              </a:spcAft>
              <a:defRPr sz="1500" b="1">
                <a:solidFill>
                  <a:srgbClr val="176B4C"/>
                </a:solidFill>
                <a:latin typeface="DejaVu Sans"/>
              </a:defRPr>
            </a:pPr>
            <a:r>
              <a:t>Matching section → seek  •  No match → explanation + actual video suggestions</a:t>
            </a:r>
          </a:p>
        </p:txBody>
      </p:sp>
      <p:cxnSp>
        <p:nvCxnSpPr>
          <p:cNvPr id="34" name="Connector 33"/>
          <p:cNvCxnSpPr/>
          <p:nvPr/>
        </p:nvCxnSpPr>
        <p:spPr>
          <a:xfrm>
            <a:off x="8321040" y="4315968"/>
            <a:ext cx="0" cy="347472"/>
          </a:xfrm>
          <a:prstGeom prst="line">
            <a:avLst/>
          </a:prstGeom>
          <a:ln w="25400">
            <a:solidFill>
              <a:srgbClr val="55BF9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00032" y="5184648"/>
            <a:ext cx="1252728" cy="0"/>
          </a:xfrm>
          <a:prstGeom prst="line">
            <a:avLst/>
          </a:prstGeom>
          <a:ln w="25400">
            <a:solidFill>
              <a:srgbClr val="55BF9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0652760" y="4315968"/>
            <a:ext cx="0" cy="868680"/>
          </a:xfrm>
          <a:prstGeom prst="line">
            <a:avLst/>
          </a:prstGeom>
          <a:ln w="25400">
            <a:solidFill>
              <a:srgbClr val="55BF9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WIREFRAMES / MOCK DIAGRAMS</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An interface designed around the learning task.</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Actual local React interface • simulated API responses and player in these captures.</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06</a:t>
            </a:r>
          </a:p>
        </p:txBody>
      </p:sp>
      <p:pic>
        <p:nvPicPr>
          <p:cNvPr id="8" name="Picture 7" descr="local-search-choices.png"/>
          <p:cNvPicPr>
            <a:picLocks noChangeAspect="1"/>
          </p:cNvPicPr>
          <p:nvPr/>
        </p:nvPicPr>
        <p:blipFill>
          <a:blip r:embed="rId2"/>
          <a:stretch>
            <a:fillRect/>
          </a:stretch>
        </p:blipFill>
        <p:spPr>
          <a:xfrm>
            <a:off x="843076" y="2468880"/>
            <a:ext cx="4806086" cy="3337560"/>
          </a:xfrm>
          <a:prstGeom prst="rect">
            <a:avLst/>
          </a:prstGeom>
        </p:spPr>
      </p:pic>
      <p:pic>
        <p:nvPicPr>
          <p:cNvPr id="9" name="Picture 8" descr="local-teacher.png"/>
          <p:cNvPicPr>
            <a:picLocks noChangeAspect="1"/>
          </p:cNvPicPr>
          <p:nvPr/>
        </p:nvPicPr>
        <p:blipFill>
          <a:blip r:embed="rId3"/>
          <a:stretch>
            <a:fillRect/>
          </a:stretch>
        </p:blipFill>
        <p:spPr>
          <a:xfrm>
            <a:off x="6548932" y="2468880"/>
            <a:ext cx="4806086" cy="3337560"/>
          </a:xfrm>
          <a:prstGeom prst="rect">
            <a:avLst/>
          </a:prstGeom>
        </p:spPr>
      </p:pic>
      <p:sp>
        <p:nvSpPr>
          <p:cNvPr id="10" name="TextBox 9"/>
          <p:cNvSpPr txBox="1"/>
          <p:nvPr/>
        </p:nvSpPr>
        <p:spPr>
          <a:xfrm>
            <a:off x="594360" y="5943600"/>
            <a:ext cx="5303520" cy="32004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01  Clarify the learning angle before searching.</a:t>
            </a:r>
          </a:p>
        </p:txBody>
      </p:sp>
      <p:sp>
        <p:nvSpPr>
          <p:cNvPr id="11" name="TextBox 10"/>
          <p:cNvSpPr txBox="1"/>
          <p:nvPr/>
        </p:nvSpPr>
        <p:spPr>
          <a:xfrm>
            <a:off x="6309360" y="5943600"/>
            <a:ext cx="5303520" cy="32004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02  Keep the teacher beside the video.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ARCHITECTURE DIAGRAM</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Google Cloud runs the application. Gemini powers the learning decisions.</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Latest repository architecture • browser calls the API; provider credentials stay on the server.</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07</a:t>
            </a:r>
          </a:p>
        </p:txBody>
      </p:sp>
      <p:sp>
        <p:nvSpPr>
          <p:cNvPr id="8" name="Rounded Rectangle 7"/>
          <p:cNvSpPr/>
          <p:nvPr/>
        </p:nvSpPr>
        <p:spPr>
          <a:xfrm>
            <a:off x="502920" y="2587752"/>
            <a:ext cx="2194560" cy="1828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788920"/>
            <a:ext cx="1810512" cy="320040"/>
          </a:xfrm>
          <a:prstGeom prst="rect">
            <a:avLst/>
          </a:prstGeom>
          <a:noFill/>
        </p:spPr>
        <p:txBody>
          <a:bodyPr wrap="square" lIns="0" rIns="0" tIns="0" bIns="0">
            <a:spAutoFit/>
          </a:bodyPr>
          <a:lstStyle/>
          <a:p>
            <a:pPr>
              <a:spcAft>
                <a:spcPts val="600"/>
              </a:spcAft>
              <a:defRPr sz="1600" b="1">
                <a:solidFill>
                  <a:srgbClr val="176B4C"/>
                </a:solidFill>
                <a:latin typeface="DejaVu Sans"/>
              </a:defRPr>
            </a:pPr>
            <a:r>
              <a:t>REACT CLIENT</a:t>
            </a:r>
          </a:p>
        </p:txBody>
      </p:sp>
      <p:sp>
        <p:nvSpPr>
          <p:cNvPr id="10" name="TextBox 9"/>
          <p:cNvSpPr txBox="1"/>
          <p:nvPr/>
        </p:nvSpPr>
        <p:spPr>
          <a:xfrm>
            <a:off x="694944" y="3291840"/>
            <a:ext cx="1810512" cy="1005840"/>
          </a:xfrm>
          <a:prstGeom prst="rect">
            <a:avLst/>
          </a:prstGeom>
          <a:noFill/>
        </p:spPr>
        <p:txBody>
          <a:bodyPr wrap="square" lIns="0" rIns="0" tIns="0" bIns="0">
            <a:spAutoFit/>
          </a:bodyPr>
          <a:lstStyle/>
          <a:p>
            <a:pPr>
              <a:spcAft>
                <a:spcPts val="600"/>
              </a:spcAft>
              <a:defRPr sz="1400" b="0">
                <a:solidFill>
                  <a:srgbClr val="17221D"/>
                </a:solidFill>
                <a:latin typeface="DejaVu Sans"/>
              </a:defRPr>
            </a:pPr>
            <a:r>
              <a:t>Desktop / mobile</a:t>
            </a:r>
          </a:p>
          <a:p>
            <a:pPr>
              <a:spcAft>
                <a:spcPts val="600"/>
              </a:spcAft>
              <a:defRPr sz="1400" b="0">
                <a:solidFill>
                  <a:srgbClr val="17221D"/>
                </a:solidFill>
                <a:latin typeface="DejaVu Sans"/>
              </a:defRPr>
            </a:pPr>
            <a:r>
              <a:t>Shared features</a:t>
            </a:r>
          </a:p>
          <a:p>
            <a:pPr>
              <a:spcAft>
                <a:spcPts val="600"/>
              </a:spcAft>
              <a:defRPr sz="1400" b="0">
                <a:solidFill>
                  <a:srgbClr val="17221D"/>
                </a:solidFill>
                <a:latin typeface="DejaVu Sans"/>
              </a:defRPr>
            </a:pPr>
            <a:r>
              <a:t>Guest storage</a:t>
            </a:r>
          </a:p>
        </p:txBody>
      </p:sp>
      <p:sp>
        <p:nvSpPr>
          <p:cNvPr id="11" name="Rounded Rectangle 10"/>
          <p:cNvSpPr/>
          <p:nvPr/>
        </p:nvSpPr>
        <p:spPr>
          <a:xfrm>
            <a:off x="3200400" y="2487168"/>
            <a:ext cx="4572000" cy="3319272"/>
          </a:xfrm>
          <a:prstGeom prst="roundRect">
            <a:avLst>
              <a:gd name="adj" fmla="val 12000"/>
            </a:avLst>
          </a:prstGeom>
          <a:solidFill>
            <a:srgbClr val="E6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01568" y="2651760"/>
            <a:ext cx="4160520" cy="320040"/>
          </a:xfrm>
          <a:prstGeom prst="rect">
            <a:avLst/>
          </a:prstGeom>
          <a:noFill/>
        </p:spPr>
        <p:txBody>
          <a:bodyPr wrap="square" lIns="0" rIns="0" tIns="0" bIns="0">
            <a:spAutoFit/>
          </a:bodyPr>
          <a:lstStyle/>
          <a:p>
            <a:pPr>
              <a:spcAft>
                <a:spcPts val="600"/>
              </a:spcAft>
              <a:defRPr sz="1600" b="1">
                <a:solidFill>
                  <a:srgbClr val="176B4C"/>
                </a:solidFill>
                <a:latin typeface="DejaVu Sans"/>
              </a:defRPr>
            </a:pPr>
            <a:r>
              <a:t>GOOGLE CLOUD RUN / NODE API</a:t>
            </a:r>
          </a:p>
        </p:txBody>
      </p:sp>
      <p:sp>
        <p:nvSpPr>
          <p:cNvPr id="13" name="TextBox 12"/>
          <p:cNvSpPr txBox="1"/>
          <p:nvPr/>
        </p:nvSpPr>
        <p:spPr>
          <a:xfrm>
            <a:off x="3429000" y="3182112"/>
            <a:ext cx="4059936" cy="1005840"/>
          </a:xfrm>
          <a:prstGeom prst="rect">
            <a:avLst/>
          </a:prstGeom>
          <a:noFill/>
        </p:spPr>
        <p:txBody>
          <a:bodyPr wrap="square" lIns="0" rIns="0" tIns="0" bIns="0">
            <a:spAutoFit/>
          </a:bodyPr>
          <a:lstStyle/>
          <a:p>
            <a:pPr>
              <a:spcAft>
                <a:spcPts val="600"/>
              </a:spcAft>
              <a:defRPr sz="1500" b="0">
                <a:solidFill>
                  <a:srgbClr val="17221D"/>
                </a:solidFill>
                <a:latin typeface="DejaVu Sans"/>
              </a:defRPr>
            </a:pPr>
            <a:r>
              <a:t>Validation + access checks</a:t>
            </a:r>
          </a:p>
          <a:p>
            <a:pPr>
              <a:spcAft>
                <a:spcPts val="600"/>
              </a:spcAft>
              <a:defRPr sz="1500" b="0">
                <a:solidFill>
                  <a:srgbClr val="17221D"/>
                </a:solidFill>
                <a:latin typeface="DejaVu Sans"/>
              </a:defRPr>
            </a:pPr>
            <a:r>
              <a:t>Teacher • search • classification</a:t>
            </a:r>
          </a:p>
          <a:p>
            <a:pPr>
              <a:spcAft>
                <a:spcPts val="600"/>
              </a:spcAft>
              <a:defRPr sz="1500" b="0">
                <a:solidFill>
                  <a:srgbClr val="17221D"/>
                </a:solidFill>
                <a:latin typeface="DejaVu Sans"/>
              </a:defRPr>
            </a:pPr>
            <a:r>
              <a:t>Shared Gemini priority queue</a:t>
            </a:r>
          </a:p>
        </p:txBody>
      </p:sp>
      <p:sp>
        <p:nvSpPr>
          <p:cNvPr id="14" name="Rounded Rectangle 13"/>
          <p:cNvSpPr/>
          <p:nvPr/>
        </p:nvSpPr>
        <p:spPr>
          <a:xfrm>
            <a:off x="3410712" y="4434840"/>
            <a:ext cx="4151376" cy="1033271"/>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4590288"/>
            <a:ext cx="3794760" cy="731520"/>
          </a:xfrm>
          <a:prstGeom prst="rect">
            <a:avLst/>
          </a:prstGeom>
          <a:noFill/>
        </p:spPr>
        <p:txBody>
          <a:bodyPr wrap="square" lIns="0" rIns="0" tIns="0" bIns="0">
            <a:spAutoFit/>
          </a:bodyPr>
          <a:lstStyle/>
          <a:p>
            <a:pPr>
              <a:spcAft>
                <a:spcPts val="600"/>
              </a:spcAft>
              <a:defRPr sz="1400" b="0">
                <a:solidFill>
                  <a:srgbClr val="17221D"/>
                </a:solidFill>
                <a:latin typeface="DejaVu Sans"/>
              </a:defRPr>
            </a:pPr>
            <a:r>
              <a:t>Firestore: metadata cache + atomic budgets</a:t>
            </a:r>
          </a:p>
          <a:p>
            <a:pPr>
              <a:spcAft>
                <a:spcPts val="600"/>
              </a:spcAft>
              <a:defRPr sz="1400" b="0">
                <a:solidFill>
                  <a:srgbClr val="17221D"/>
                </a:solidFill>
                <a:latin typeface="DejaVu Sans"/>
              </a:defRPr>
            </a:pPr>
            <a:r>
              <a:t>Secret Manager: provider credentials</a:t>
            </a:r>
          </a:p>
        </p:txBody>
      </p:sp>
      <p:cxnSp>
        <p:nvCxnSpPr>
          <p:cNvPr id="16" name="Connector 15"/>
          <p:cNvCxnSpPr/>
          <p:nvPr/>
        </p:nvCxnSpPr>
        <p:spPr>
          <a:xfrm>
            <a:off x="2724912" y="3474720"/>
            <a:ext cx="438912" cy="0"/>
          </a:xfrm>
          <a:prstGeom prst="line">
            <a:avLst/>
          </a:prstGeom>
          <a:ln w="25400">
            <a:solidFill>
              <a:srgbClr val="55BF9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24912" y="3063240"/>
            <a:ext cx="457200" cy="274320"/>
          </a:xfrm>
          <a:prstGeom prst="rect">
            <a:avLst/>
          </a:prstGeom>
          <a:noFill/>
        </p:spPr>
        <p:txBody>
          <a:bodyPr wrap="square" lIns="0" rIns="0" tIns="0" bIns="0">
            <a:spAutoFit/>
          </a:bodyPr>
          <a:lstStyle/>
          <a:p>
            <a:pPr>
              <a:spcAft>
                <a:spcPts val="600"/>
              </a:spcAft>
              <a:defRPr sz="900" b="0">
                <a:solidFill>
                  <a:srgbClr val="176B4C"/>
                </a:solidFill>
                <a:latin typeface="DejaVu Sans"/>
              </a:defRPr>
            </a:pPr>
            <a:r>
              <a:t>API</a:t>
            </a:r>
          </a:p>
        </p:txBody>
      </p:sp>
      <p:sp>
        <p:nvSpPr>
          <p:cNvPr id="18" name="Rounded Rectangle 17"/>
          <p:cNvSpPr/>
          <p:nvPr/>
        </p:nvSpPr>
        <p:spPr>
          <a:xfrm>
            <a:off x="8275320" y="2487168"/>
            <a:ext cx="3410712" cy="94183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9912" y="2615184"/>
            <a:ext cx="3072384" cy="256032"/>
          </a:xfrm>
          <a:prstGeom prst="rect">
            <a:avLst/>
          </a:prstGeom>
          <a:noFill/>
        </p:spPr>
        <p:txBody>
          <a:bodyPr wrap="square" lIns="0" rIns="0" tIns="0" bIns="0">
            <a:spAutoFit/>
          </a:bodyPr>
          <a:lstStyle/>
          <a:p>
            <a:pPr>
              <a:spcAft>
                <a:spcPts val="600"/>
              </a:spcAft>
              <a:defRPr sz="1200" b="1">
                <a:solidFill>
                  <a:srgbClr val="176B4C"/>
                </a:solidFill>
                <a:latin typeface="DejaVu Sans"/>
              </a:defRPr>
            </a:pPr>
            <a:r>
              <a:t>GEMINI DEVELOPER API</a:t>
            </a:r>
          </a:p>
        </p:txBody>
      </p:sp>
      <p:sp>
        <p:nvSpPr>
          <p:cNvPr id="20" name="TextBox 19"/>
          <p:cNvSpPr txBox="1"/>
          <p:nvPr/>
        </p:nvSpPr>
        <p:spPr>
          <a:xfrm>
            <a:off x="8439912" y="2990088"/>
            <a:ext cx="3063240" cy="320040"/>
          </a:xfrm>
          <a:prstGeom prst="rect">
            <a:avLst/>
          </a:prstGeom>
          <a:noFill/>
        </p:spPr>
        <p:txBody>
          <a:bodyPr wrap="square" lIns="0" rIns="0" tIns="0" bIns="0">
            <a:spAutoFit/>
          </a:bodyPr>
          <a:lstStyle/>
          <a:p>
            <a:pPr>
              <a:spcAft>
                <a:spcPts val="600"/>
              </a:spcAft>
              <a:defRPr sz="1100" b="0">
                <a:solidFill>
                  <a:srgbClr val="17221D"/>
                </a:solidFill>
                <a:latin typeface="DejaVu Sans"/>
              </a:defRPr>
            </a:pPr>
            <a:r>
              <a:t>Teaching, intent and topic decisions</a:t>
            </a:r>
          </a:p>
        </p:txBody>
      </p:sp>
      <p:cxnSp>
        <p:nvCxnSpPr>
          <p:cNvPr id="21" name="Connector 20"/>
          <p:cNvCxnSpPr/>
          <p:nvPr/>
        </p:nvCxnSpPr>
        <p:spPr>
          <a:xfrm>
            <a:off x="7790688" y="2944368"/>
            <a:ext cx="457200" cy="0"/>
          </a:xfrm>
          <a:prstGeom prst="line">
            <a:avLst/>
          </a:prstGeom>
          <a:ln w="25400">
            <a:solidFill>
              <a:srgbClr val="55BF95"/>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75320" y="3621024"/>
            <a:ext cx="3410712" cy="94183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9912" y="3749039"/>
            <a:ext cx="3072384" cy="256032"/>
          </a:xfrm>
          <a:prstGeom prst="rect">
            <a:avLst/>
          </a:prstGeom>
          <a:noFill/>
        </p:spPr>
        <p:txBody>
          <a:bodyPr wrap="square" lIns="0" rIns="0" tIns="0" bIns="0">
            <a:spAutoFit/>
          </a:bodyPr>
          <a:lstStyle/>
          <a:p>
            <a:pPr>
              <a:spcAft>
                <a:spcPts val="600"/>
              </a:spcAft>
              <a:defRPr sz="1200" b="1">
                <a:solidFill>
                  <a:srgbClr val="176B4C"/>
                </a:solidFill>
                <a:latin typeface="DejaVu Sans"/>
              </a:defRPr>
            </a:pPr>
            <a:r>
              <a:t>YOUTUBE + WIKIDATA</a:t>
            </a:r>
          </a:p>
        </p:txBody>
      </p:sp>
      <p:sp>
        <p:nvSpPr>
          <p:cNvPr id="24" name="TextBox 23"/>
          <p:cNvSpPr txBox="1"/>
          <p:nvPr/>
        </p:nvSpPr>
        <p:spPr>
          <a:xfrm>
            <a:off x="8439912" y="4123944"/>
            <a:ext cx="3063240" cy="320040"/>
          </a:xfrm>
          <a:prstGeom prst="rect">
            <a:avLst/>
          </a:prstGeom>
          <a:noFill/>
        </p:spPr>
        <p:txBody>
          <a:bodyPr wrap="square" lIns="0" rIns="0" tIns="0" bIns="0">
            <a:spAutoFit/>
          </a:bodyPr>
          <a:lstStyle/>
          <a:p>
            <a:pPr>
              <a:spcAft>
                <a:spcPts val="600"/>
              </a:spcAft>
              <a:defRPr sz="1100" b="0">
                <a:solidFill>
                  <a:srgbClr val="17221D"/>
                </a:solidFill>
                <a:latin typeface="DejaVu Sans"/>
              </a:defRPr>
            </a:pPr>
            <a:r>
              <a:t>Video metadata + concept candidates</a:t>
            </a:r>
          </a:p>
        </p:txBody>
      </p:sp>
      <p:cxnSp>
        <p:nvCxnSpPr>
          <p:cNvPr id="25" name="Connector 24"/>
          <p:cNvCxnSpPr/>
          <p:nvPr/>
        </p:nvCxnSpPr>
        <p:spPr>
          <a:xfrm>
            <a:off x="7790688" y="4078224"/>
            <a:ext cx="457200" cy="0"/>
          </a:xfrm>
          <a:prstGeom prst="line">
            <a:avLst/>
          </a:prstGeom>
          <a:ln w="25400">
            <a:solidFill>
              <a:srgbClr val="55BF95"/>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275320" y="4754880"/>
            <a:ext cx="3410712" cy="94183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9912" y="4882896"/>
            <a:ext cx="3072384" cy="256032"/>
          </a:xfrm>
          <a:prstGeom prst="rect">
            <a:avLst/>
          </a:prstGeom>
          <a:noFill/>
        </p:spPr>
        <p:txBody>
          <a:bodyPr wrap="square" lIns="0" rIns="0" tIns="0" bIns="0">
            <a:spAutoFit/>
          </a:bodyPr>
          <a:lstStyle/>
          <a:p>
            <a:pPr>
              <a:spcAft>
                <a:spcPts val="600"/>
              </a:spcAft>
              <a:defRPr sz="1200" b="1">
                <a:solidFill>
                  <a:srgbClr val="176B4C"/>
                </a:solidFill>
                <a:latin typeface="DejaVu Sans"/>
              </a:defRPr>
            </a:pPr>
            <a:r>
              <a:t>SUPABASE</a:t>
            </a:r>
          </a:p>
        </p:txBody>
      </p:sp>
      <p:sp>
        <p:nvSpPr>
          <p:cNvPr id="28" name="TextBox 27"/>
          <p:cNvSpPr txBox="1"/>
          <p:nvPr/>
        </p:nvSpPr>
        <p:spPr>
          <a:xfrm>
            <a:off x="8439912" y="5257800"/>
            <a:ext cx="3063240" cy="320040"/>
          </a:xfrm>
          <a:prstGeom prst="rect">
            <a:avLst/>
          </a:prstGeom>
          <a:noFill/>
        </p:spPr>
        <p:txBody>
          <a:bodyPr wrap="square" lIns="0" rIns="0" tIns="0" bIns="0">
            <a:spAutoFit/>
          </a:bodyPr>
          <a:lstStyle/>
          <a:p>
            <a:pPr>
              <a:spcAft>
                <a:spcPts val="600"/>
              </a:spcAft>
              <a:defRPr sz="1100" b="0">
                <a:solidFill>
                  <a:srgbClr val="17221D"/>
                </a:solidFill>
                <a:latin typeface="DejaVu Sans"/>
              </a:defRPr>
            </a:pPr>
            <a:r>
              <a:t>Auth + private topics / playback</a:t>
            </a:r>
          </a:p>
        </p:txBody>
      </p:sp>
      <p:cxnSp>
        <p:nvCxnSpPr>
          <p:cNvPr id="29" name="Connector 28"/>
          <p:cNvCxnSpPr/>
          <p:nvPr/>
        </p:nvCxnSpPr>
        <p:spPr>
          <a:xfrm>
            <a:off x="7790688" y="5212080"/>
            <a:ext cx="457200" cy="0"/>
          </a:xfrm>
          <a:prstGeom prst="line">
            <a:avLst/>
          </a:prstGeom>
          <a:ln w="25400">
            <a:solidFill>
              <a:srgbClr val="55BF9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007608"/>
            <a:ext cx="10972800" cy="246888"/>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Video streams directly through the official YouTube player. No media is hosted by Revelink.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B2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55BF95"/>
                </a:solidFill>
                <a:latin typeface="DejaVu Sans"/>
              </a:defRPr>
            </a:pPr>
            <a:r>
              <a:t>TECHNICAL DEPTH · MEANINGFUL GENERATIVE AI</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FFFFFF"/>
                </a:solidFill>
                <a:latin typeface="DejaVu Sans"/>
              </a:defRPr>
            </a:pPr>
            <a:r>
              <a:t>Three decisions that connect the experience.</a:t>
            </a:r>
          </a:p>
        </p:txBody>
      </p:sp>
      <p:cxnSp>
        <p:nvCxnSpPr>
          <p:cNvPr id="4" name="Connector 3"/>
          <p:cNvCxnSpPr/>
          <p:nvPr/>
        </p:nvCxnSpPr>
        <p:spPr>
          <a:xfrm>
            <a:off x="502920" y="6428232"/>
            <a:ext cx="11183112" cy="0"/>
          </a:xfrm>
          <a:prstGeom prst="line">
            <a:avLst/>
          </a:prstGeom>
          <a:ln w="25400">
            <a:solidFill>
              <a:srgbClr val="176B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E6F0E8"/>
                </a:solidFill>
                <a:latin typeface="DejaVu Sans"/>
              </a:defRPr>
            </a:pPr>
            <a:r>
              <a:t>REVELINK  /  SSRD  /  AI BUILDER CUP 2026</a:t>
            </a:r>
          </a:p>
        </p:txBody>
      </p:sp>
      <p:sp>
        <p:nvSpPr>
          <p:cNvPr id="6" name="TextBox 5"/>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55BF95"/>
                </a:solidFill>
                <a:latin typeface="DejaVu Sans"/>
              </a:defRPr>
            </a:pPr>
            <a:r>
              <a:t>08</a:t>
            </a:r>
          </a:p>
        </p:txBody>
      </p:sp>
      <p:sp>
        <p:nvSpPr>
          <p:cNvPr id="7" name="Rounded Rectangle 6"/>
          <p:cNvSpPr/>
          <p:nvPr/>
        </p:nvSpPr>
        <p:spPr>
          <a:xfrm>
            <a:off x="502920" y="2423160"/>
            <a:ext cx="3520440" cy="3291840"/>
          </a:xfrm>
          <a:prstGeom prst="roundRect">
            <a:avLst>
              <a:gd name="adj" fmla="val 12000"/>
            </a:avLst>
          </a:prstGeom>
          <a:solidFill>
            <a:srgbClr val="1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606040"/>
            <a:ext cx="3099816" cy="274320"/>
          </a:xfrm>
          <a:prstGeom prst="rect">
            <a:avLst/>
          </a:prstGeom>
          <a:noFill/>
        </p:spPr>
        <p:txBody>
          <a:bodyPr wrap="square" lIns="0" rIns="0" tIns="0" bIns="0">
            <a:spAutoFit/>
          </a:bodyPr>
          <a:lstStyle/>
          <a:p>
            <a:pPr>
              <a:spcAft>
                <a:spcPts val="600"/>
              </a:spcAft>
              <a:defRPr sz="1100" b="1">
                <a:solidFill>
                  <a:srgbClr val="55BF95"/>
                </a:solidFill>
                <a:latin typeface="DejaVu Sans"/>
              </a:defRPr>
            </a:pPr>
            <a:r>
              <a:t>TEACHER</a:t>
            </a:r>
          </a:p>
        </p:txBody>
      </p:sp>
      <p:sp>
        <p:nvSpPr>
          <p:cNvPr id="9" name="TextBox 8"/>
          <p:cNvSpPr txBox="1"/>
          <p:nvPr/>
        </p:nvSpPr>
        <p:spPr>
          <a:xfrm>
            <a:off x="713232" y="3044952"/>
            <a:ext cx="3099816" cy="731520"/>
          </a:xfrm>
          <a:prstGeom prst="rect">
            <a:avLst/>
          </a:prstGeom>
          <a:noFill/>
        </p:spPr>
        <p:txBody>
          <a:bodyPr wrap="square" lIns="0" rIns="0" tIns="0" bIns="0">
            <a:spAutoFit/>
          </a:bodyPr>
          <a:lstStyle/>
          <a:p>
            <a:pPr>
              <a:spcAft>
                <a:spcPts val="600"/>
              </a:spcAft>
              <a:defRPr sz="2200" b="1">
                <a:solidFill>
                  <a:srgbClr val="FFFFFF"/>
                </a:solidFill>
                <a:latin typeface="DejaVu Sans"/>
              </a:defRPr>
            </a:pPr>
            <a:r>
              <a:t>Explain → act</a:t>
            </a:r>
          </a:p>
        </p:txBody>
      </p:sp>
      <p:sp>
        <p:nvSpPr>
          <p:cNvPr id="10" name="TextBox 9"/>
          <p:cNvSpPr txBox="1"/>
          <p:nvPr/>
        </p:nvSpPr>
        <p:spPr>
          <a:xfrm>
            <a:off x="713232" y="3867912"/>
            <a:ext cx="3099816" cy="1737360"/>
          </a:xfrm>
          <a:prstGeom prst="rect">
            <a:avLst/>
          </a:prstGeom>
          <a:noFill/>
        </p:spPr>
        <p:txBody>
          <a:bodyPr wrap="square" lIns="0" rIns="0" tIns="0" bIns="0">
            <a:spAutoFit/>
          </a:bodyPr>
          <a:lstStyle/>
          <a:p>
            <a:pPr>
              <a:spcAft>
                <a:spcPts val="600"/>
              </a:spcAft>
              <a:defRPr sz="1600" b="0">
                <a:solidFill>
                  <a:srgbClr val="E6F0E8"/>
                </a:solidFill>
                <a:latin typeface="DejaVu Sans"/>
              </a:defRPr>
            </a:pPr>
            <a:r>
              <a:t>Question + history + eligible video → structured answer, source basis and validated section or real video suggestions.</a:t>
            </a:r>
          </a:p>
        </p:txBody>
      </p:sp>
      <p:sp>
        <p:nvSpPr>
          <p:cNvPr id="11" name="Rounded Rectangle 10"/>
          <p:cNvSpPr/>
          <p:nvPr/>
        </p:nvSpPr>
        <p:spPr>
          <a:xfrm>
            <a:off x="4325112" y="2423160"/>
            <a:ext cx="3520440" cy="3291840"/>
          </a:xfrm>
          <a:prstGeom prst="roundRect">
            <a:avLst>
              <a:gd name="adj" fmla="val 12000"/>
            </a:avLst>
          </a:prstGeom>
          <a:solidFill>
            <a:srgbClr val="1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2606040"/>
            <a:ext cx="3099816" cy="274320"/>
          </a:xfrm>
          <a:prstGeom prst="rect">
            <a:avLst/>
          </a:prstGeom>
          <a:noFill/>
        </p:spPr>
        <p:txBody>
          <a:bodyPr wrap="square" lIns="0" rIns="0" tIns="0" bIns="0">
            <a:spAutoFit/>
          </a:bodyPr>
          <a:lstStyle/>
          <a:p>
            <a:pPr>
              <a:spcAft>
                <a:spcPts val="600"/>
              </a:spcAft>
              <a:defRPr sz="1100" b="1">
                <a:solidFill>
                  <a:srgbClr val="55BF95"/>
                </a:solidFill>
                <a:latin typeface="DejaVu Sans"/>
              </a:defRPr>
            </a:pPr>
            <a:r>
              <a:t>SEARCH</a:t>
            </a:r>
          </a:p>
        </p:txBody>
      </p:sp>
      <p:sp>
        <p:nvSpPr>
          <p:cNvPr id="13" name="TextBox 12"/>
          <p:cNvSpPr txBox="1"/>
          <p:nvPr/>
        </p:nvSpPr>
        <p:spPr>
          <a:xfrm>
            <a:off x="4535424" y="3044952"/>
            <a:ext cx="3099816" cy="731520"/>
          </a:xfrm>
          <a:prstGeom prst="rect">
            <a:avLst/>
          </a:prstGeom>
          <a:noFill/>
        </p:spPr>
        <p:txBody>
          <a:bodyPr wrap="square" lIns="0" rIns="0" tIns="0" bIns="0">
            <a:spAutoFit/>
          </a:bodyPr>
          <a:lstStyle/>
          <a:p>
            <a:pPr>
              <a:spcAft>
                <a:spcPts val="600"/>
              </a:spcAft>
              <a:defRPr sz="2200" b="1">
                <a:solidFill>
                  <a:srgbClr val="FFFFFF"/>
                </a:solidFill>
                <a:latin typeface="DejaVu Sans"/>
              </a:defRPr>
            </a:pPr>
            <a:r>
              <a:t>Intent → useful results</a:t>
            </a:r>
          </a:p>
        </p:txBody>
      </p:sp>
      <p:sp>
        <p:nvSpPr>
          <p:cNvPr id="14" name="TextBox 13"/>
          <p:cNvSpPr txBox="1"/>
          <p:nvPr/>
        </p:nvSpPr>
        <p:spPr>
          <a:xfrm>
            <a:off x="4535424" y="3867912"/>
            <a:ext cx="3099816" cy="1737360"/>
          </a:xfrm>
          <a:prstGeom prst="rect">
            <a:avLst/>
          </a:prstGeom>
          <a:noFill/>
        </p:spPr>
        <p:txBody>
          <a:bodyPr wrap="square" lIns="0" rIns="0" tIns="0" bIns="0">
            <a:spAutoFit/>
          </a:bodyPr>
          <a:lstStyle/>
          <a:p>
            <a:pPr>
              <a:spcAft>
                <a:spcPts val="600"/>
              </a:spcAft>
              <a:defRPr sz="1600" b="0">
                <a:solidFill>
                  <a:srgbClr val="E6F0E8"/>
                </a:solidFill>
                <a:latin typeface="DejaVu Sans"/>
              </a:defRPr>
            </a:pPr>
            <a:r>
              <a:t>Question → learning choices or approval → YouTube retrieval → batched educational-purpose decisions.</a:t>
            </a:r>
          </a:p>
        </p:txBody>
      </p:sp>
      <p:sp>
        <p:nvSpPr>
          <p:cNvPr id="15" name="Rounded Rectangle 14"/>
          <p:cNvSpPr/>
          <p:nvPr/>
        </p:nvSpPr>
        <p:spPr>
          <a:xfrm>
            <a:off x="8147304" y="2423160"/>
            <a:ext cx="3520440" cy="3291840"/>
          </a:xfrm>
          <a:prstGeom prst="roundRect">
            <a:avLst>
              <a:gd name="adj" fmla="val 12000"/>
            </a:avLst>
          </a:prstGeom>
          <a:solidFill>
            <a:srgbClr val="1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2606040"/>
            <a:ext cx="3099816" cy="274320"/>
          </a:xfrm>
          <a:prstGeom prst="rect">
            <a:avLst/>
          </a:prstGeom>
          <a:noFill/>
        </p:spPr>
        <p:txBody>
          <a:bodyPr wrap="square" lIns="0" rIns="0" tIns="0" bIns="0">
            <a:spAutoFit/>
          </a:bodyPr>
          <a:lstStyle/>
          <a:p>
            <a:pPr>
              <a:spcAft>
                <a:spcPts val="600"/>
              </a:spcAft>
              <a:defRPr sz="1100" b="1">
                <a:solidFill>
                  <a:srgbClr val="55BF95"/>
                </a:solidFill>
                <a:latin typeface="DejaVu Sans"/>
              </a:defRPr>
            </a:pPr>
            <a:r>
              <a:t>CLASSIFICATION</a:t>
            </a:r>
          </a:p>
        </p:txBody>
      </p:sp>
      <p:sp>
        <p:nvSpPr>
          <p:cNvPr id="17" name="TextBox 16"/>
          <p:cNvSpPr txBox="1"/>
          <p:nvPr/>
        </p:nvSpPr>
        <p:spPr>
          <a:xfrm>
            <a:off x="8357616" y="3044952"/>
            <a:ext cx="3099816" cy="731520"/>
          </a:xfrm>
          <a:prstGeom prst="rect">
            <a:avLst/>
          </a:prstGeom>
          <a:noFill/>
        </p:spPr>
        <p:txBody>
          <a:bodyPr wrap="square" lIns="0" rIns="0" tIns="0" bIns="0">
            <a:spAutoFit/>
          </a:bodyPr>
          <a:lstStyle/>
          <a:p>
            <a:pPr>
              <a:spcAft>
                <a:spcPts val="600"/>
              </a:spcAft>
              <a:defRPr sz="2200" b="1">
                <a:solidFill>
                  <a:srgbClr val="FFFFFF"/>
                </a:solidFill>
                <a:latin typeface="DejaVu Sans"/>
              </a:defRPr>
            </a:pPr>
            <a:r>
              <a:t>Concept → discovery</a:t>
            </a:r>
          </a:p>
        </p:txBody>
      </p:sp>
      <p:sp>
        <p:nvSpPr>
          <p:cNvPr id="18" name="TextBox 17"/>
          <p:cNvSpPr txBox="1"/>
          <p:nvPr/>
        </p:nvSpPr>
        <p:spPr>
          <a:xfrm>
            <a:off x="8357616" y="3867912"/>
            <a:ext cx="3099816" cy="1737360"/>
          </a:xfrm>
          <a:prstGeom prst="rect">
            <a:avLst/>
          </a:prstGeom>
          <a:noFill/>
        </p:spPr>
        <p:txBody>
          <a:bodyPr wrap="square" lIns="0" rIns="0" tIns="0" bIns="0">
            <a:spAutoFit/>
          </a:bodyPr>
          <a:lstStyle/>
          <a:p>
            <a:pPr>
              <a:spcAft>
                <a:spcPts val="600"/>
              </a:spcAft>
              <a:defRPr sz="1600" b="0">
                <a:solidFill>
                  <a:srgbClr val="E6F0E8"/>
                </a:solidFill>
                <a:latin typeface="DejaVu Sans"/>
              </a:defRPr>
            </a:pPr>
            <a:r>
              <a:t>Video metadata → Gemini topic extraction → Wikidata candidates → validated primary and related Universes.</a:t>
            </a:r>
          </a:p>
        </p:txBody>
      </p:sp>
      <p:sp>
        <p:nvSpPr>
          <p:cNvPr id="19" name="TextBox 18"/>
          <p:cNvSpPr txBox="1"/>
          <p:nvPr/>
        </p:nvSpPr>
        <p:spPr>
          <a:xfrm>
            <a:off x="594360" y="5961888"/>
            <a:ext cx="10972800" cy="274320"/>
          </a:xfrm>
          <a:prstGeom prst="rect">
            <a:avLst/>
          </a:prstGeom>
          <a:noFill/>
        </p:spPr>
        <p:txBody>
          <a:bodyPr wrap="square" lIns="0" rIns="0" tIns="0" bIns="0">
            <a:spAutoFit/>
          </a:bodyPr>
          <a:lstStyle/>
          <a:p>
            <a:pPr>
              <a:spcAft>
                <a:spcPts val="600"/>
              </a:spcAft>
              <a:defRPr sz="1400" b="1">
                <a:solidFill>
                  <a:srgbClr val="55BF95"/>
                </a:solidFill>
                <a:latin typeface="DejaVu Sans"/>
              </a:defRPr>
            </a:pPr>
            <a:r>
              <a:t>Validated outputs  /  explicit uncertainty  /  cached decisions  /  teacher-first scheduling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TECHNOLOGIES USED</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A small, modular stack with clear responsibilities.</a:t>
            </a:r>
          </a:p>
        </p:txBody>
      </p:sp>
      <p:cxnSp>
        <p:nvCxnSpPr>
          <p:cNvPr id="4" name="Connector 3"/>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6" name="TextBox 5"/>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09</a:t>
            </a:r>
          </a:p>
        </p:txBody>
      </p:sp>
      <p:sp>
        <p:nvSpPr>
          <p:cNvPr id="7" name="Rounded Rectangle 6"/>
          <p:cNvSpPr/>
          <p:nvPr/>
        </p:nvSpPr>
        <p:spPr>
          <a:xfrm>
            <a:off x="502920" y="2240280"/>
            <a:ext cx="11183112" cy="53035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59152"/>
            <a:ext cx="1508760" cy="27432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Experience</a:t>
            </a:r>
          </a:p>
        </p:txBody>
      </p:sp>
      <p:sp>
        <p:nvSpPr>
          <p:cNvPr id="9" name="TextBox 8"/>
          <p:cNvSpPr txBox="1"/>
          <p:nvPr/>
        </p:nvSpPr>
        <p:spPr>
          <a:xfrm>
            <a:off x="2331720" y="2359152"/>
            <a:ext cx="3977639" cy="27432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React · TypeScript · Vite</a:t>
            </a:r>
          </a:p>
        </p:txBody>
      </p:sp>
      <p:sp>
        <p:nvSpPr>
          <p:cNvPr id="10" name="TextBox 9"/>
          <p:cNvSpPr txBox="1"/>
          <p:nvPr/>
        </p:nvSpPr>
        <p:spPr>
          <a:xfrm>
            <a:off x="6419088" y="2359152"/>
            <a:ext cx="5029200" cy="32004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Shared learning features; dedicated desktop and mobile layouts.</a:t>
            </a:r>
          </a:p>
        </p:txBody>
      </p:sp>
      <p:sp>
        <p:nvSpPr>
          <p:cNvPr id="11" name="Rounded Rectangle 10"/>
          <p:cNvSpPr/>
          <p:nvPr/>
        </p:nvSpPr>
        <p:spPr>
          <a:xfrm>
            <a:off x="502920" y="2852928"/>
            <a:ext cx="11183112" cy="53035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71800"/>
            <a:ext cx="1508760" cy="27432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Application</a:t>
            </a:r>
          </a:p>
        </p:txBody>
      </p:sp>
      <p:sp>
        <p:nvSpPr>
          <p:cNvPr id="13" name="TextBox 12"/>
          <p:cNvSpPr txBox="1"/>
          <p:nvPr/>
        </p:nvSpPr>
        <p:spPr>
          <a:xfrm>
            <a:off x="2331720" y="2971800"/>
            <a:ext cx="3977639" cy="27432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Node.js · REST API</a:t>
            </a:r>
          </a:p>
        </p:txBody>
      </p:sp>
      <p:sp>
        <p:nvSpPr>
          <p:cNvPr id="14" name="TextBox 13"/>
          <p:cNvSpPr txBox="1"/>
          <p:nvPr/>
        </p:nvSpPr>
        <p:spPr>
          <a:xfrm>
            <a:off x="6419088" y="2971800"/>
            <a:ext cx="5029200" cy="32004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Provider adapters, validation, background jobs and budgets.</a:t>
            </a:r>
          </a:p>
        </p:txBody>
      </p:sp>
      <p:sp>
        <p:nvSpPr>
          <p:cNvPr id="15" name="Rounded Rectangle 14"/>
          <p:cNvSpPr/>
          <p:nvPr/>
        </p:nvSpPr>
        <p:spPr>
          <a:xfrm>
            <a:off x="502920" y="3465576"/>
            <a:ext cx="11183112" cy="53035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84448"/>
            <a:ext cx="1508760" cy="27432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AI &amp; discovery</a:t>
            </a:r>
          </a:p>
        </p:txBody>
      </p:sp>
      <p:sp>
        <p:nvSpPr>
          <p:cNvPr id="17" name="TextBox 16"/>
          <p:cNvSpPr txBox="1"/>
          <p:nvPr/>
        </p:nvSpPr>
        <p:spPr>
          <a:xfrm>
            <a:off x="2331720" y="3584448"/>
            <a:ext cx="3977639" cy="27432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Gemini API · YouTube Data API · Wikidata</a:t>
            </a:r>
          </a:p>
        </p:txBody>
      </p:sp>
      <p:sp>
        <p:nvSpPr>
          <p:cNvPr id="18" name="TextBox 17"/>
          <p:cNvSpPr txBox="1"/>
          <p:nvPr/>
        </p:nvSpPr>
        <p:spPr>
          <a:xfrm>
            <a:off x="6419088" y="3584448"/>
            <a:ext cx="5029200" cy="32004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Teaching, educational intent, video retrieval and concept labels.</a:t>
            </a:r>
          </a:p>
        </p:txBody>
      </p:sp>
      <p:sp>
        <p:nvSpPr>
          <p:cNvPr id="19" name="Rounded Rectangle 18"/>
          <p:cNvSpPr/>
          <p:nvPr/>
        </p:nvSpPr>
        <p:spPr>
          <a:xfrm>
            <a:off x="502920" y="4078224"/>
            <a:ext cx="11183112" cy="53035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197096"/>
            <a:ext cx="1508760" cy="27432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Cloud platform</a:t>
            </a:r>
          </a:p>
        </p:txBody>
      </p:sp>
      <p:sp>
        <p:nvSpPr>
          <p:cNvPr id="21" name="TextBox 20"/>
          <p:cNvSpPr txBox="1"/>
          <p:nvPr/>
        </p:nvSpPr>
        <p:spPr>
          <a:xfrm>
            <a:off x="2331720" y="4197096"/>
            <a:ext cx="3977639" cy="27432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Cloud Run · Firestore · Secret Manager</a:t>
            </a:r>
          </a:p>
        </p:txBody>
      </p:sp>
      <p:sp>
        <p:nvSpPr>
          <p:cNvPr id="22" name="TextBox 21"/>
          <p:cNvSpPr txBox="1"/>
          <p:nvPr/>
        </p:nvSpPr>
        <p:spPr>
          <a:xfrm>
            <a:off x="6419088" y="4197096"/>
            <a:ext cx="5029200" cy="32004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App hosting, persistent cache/counters and managed secrets.</a:t>
            </a:r>
          </a:p>
        </p:txBody>
      </p:sp>
      <p:sp>
        <p:nvSpPr>
          <p:cNvPr id="23" name="Rounded Rectangle 22"/>
          <p:cNvSpPr/>
          <p:nvPr/>
        </p:nvSpPr>
        <p:spPr>
          <a:xfrm>
            <a:off x="502920" y="4690872"/>
            <a:ext cx="11183112" cy="53035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809744"/>
            <a:ext cx="1508760" cy="27432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Accounts</a:t>
            </a:r>
          </a:p>
        </p:txBody>
      </p:sp>
      <p:sp>
        <p:nvSpPr>
          <p:cNvPr id="25" name="TextBox 24"/>
          <p:cNvSpPr txBox="1"/>
          <p:nvPr/>
        </p:nvSpPr>
        <p:spPr>
          <a:xfrm>
            <a:off x="2331720" y="4809744"/>
            <a:ext cx="3977639" cy="27432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Supabase Auth · PostgreSQL / RLS</a:t>
            </a:r>
          </a:p>
        </p:txBody>
      </p:sp>
      <p:sp>
        <p:nvSpPr>
          <p:cNvPr id="26" name="TextBox 25"/>
          <p:cNvSpPr txBox="1"/>
          <p:nvPr/>
        </p:nvSpPr>
        <p:spPr>
          <a:xfrm>
            <a:off x="6419088" y="4809744"/>
            <a:ext cx="5029200" cy="32004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Sign-in, user-owned topics and playback records.</a:t>
            </a:r>
          </a:p>
        </p:txBody>
      </p:sp>
      <p:sp>
        <p:nvSpPr>
          <p:cNvPr id="27" name="Rounded Rectangle 26"/>
          <p:cNvSpPr/>
          <p:nvPr/>
        </p:nvSpPr>
        <p:spPr>
          <a:xfrm>
            <a:off x="502920" y="5303520"/>
            <a:ext cx="11183112" cy="53035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422392"/>
            <a:ext cx="1508760" cy="27432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Verification</a:t>
            </a:r>
          </a:p>
        </p:txBody>
      </p:sp>
      <p:sp>
        <p:nvSpPr>
          <p:cNvPr id="29" name="TextBox 28"/>
          <p:cNvSpPr txBox="1"/>
          <p:nvPr/>
        </p:nvSpPr>
        <p:spPr>
          <a:xfrm>
            <a:off x="2331720" y="5422392"/>
            <a:ext cx="3977639" cy="274320"/>
          </a:xfrm>
          <a:prstGeom prst="rect">
            <a:avLst/>
          </a:prstGeom>
          <a:noFill/>
        </p:spPr>
        <p:txBody>
          <a:bodyPr wrap="square" lIns="0" rIns="0" tIns="0" bIns="0">
            <a:spAutoFit/>
          </a:bodyPr>
          <a:lstStyle/>
          <a:p>
            <a:pPr>
              <a:spcAft>
                <a:spcPts val="600"/>
              </a:spcAft>
              <a:defRPr sz="1300" b="1">
                <a:solidFill>
                  <a:srgbClr val="17221D"/>
                </a:solidFill>
                <a:latin typeface="DejaVu Sans"/>
              </a:defRPr>
            </a:pPr>
            <a:r>
              <a:t>Playwright · Node tests · Penpot</a:t>
            </a:r>
          </a:p>
        </p:txBody>
      </p:sp>
      <p:sp>
        <p:nvSpPr>
          <p:cNvPr id="30" name="TextBox 29"/>
          <p:cNvSpPr txBox="1"/>
          <p:nvPr/>
        </p:nvSpPr>
        <p:spPr>
          <a:xfrm>
            <a:off x="6419088" y="5422392"/>
            <a:ext cx="5029200" cy="320040"/>
          </a:xfrm>
          <a:prstGeom prst="rect">
            <a:avLst/>
          </a:prstGeom>
          <a:noFill/>
        </p:spPr>
        <p:txBody>
          <a:bodyPr wrap="square" lIns="0" rIns="0" tIns="0" bIns="0">
            <a:spAutoFit/>
          </a:bodyPr>
          <a:lstStyle/>
          <a:p>
            <a:pPr>
              <a:spcAft>
                <a:spcPts val="600"/>
              </a:spcAft>
              <a:defRPr sz="1200" b="0">
                <a:solidFill>
                  <a:srgbClr val="627169"/>
                </a:solidFill>
                <a:latin typeface="DejaVu Sans"/>
              </a:defRPr>
            </a:pPr>
            <a:r>
              <a:t>Repeatable browser journeys, service rules and editable designs.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ESTIMATED IMPLEMENTATION COST · OPTIONAL</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Designed for a small, quota-controlled pilot.</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Illustrative compute estimate, not an actual bill or a quote for the Mumbai deployment.</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10</a:t>
            </a:r>
          </a:p>
        </p:txBody>
      </p:sp>
      <p:sp>
        <p:nvSpPr>
          <p:cNvPr id="8" name="Rounded Rectangle 7"/>
          <p:cNvSpPr/>
          <p:nvPr/>
        </p:nvSpPr>
        <p:spPr>
          <a:xfrm>
            <a:off x="502920" y="2542032"/>
            <a:ext cx="3749039" cy="3246120"/>
          </a:xfrm>
          <a:prstGeom prst="roundRect">
            <a:avLst>
              <a:gd name="adj" fmla="val 12000"/>
            </a:avLst>
          </a:prstGeom>
          <a:solidFill>
            <a:srgbClr val="17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3246120" cy="365760"/>
          </a:xfrm>
          <a:prstGeom prst="rect">
            <a:avLst/>
          </a:prstGeom>
          <a:noFill/>
        </p:spPr>
        <p:txBody>
          <a:bodyPr wrap="square" lIns="0" rIns="0" tIns="0" bIns="0">
            <a:spAutoFit/>
          </a:bodyPr>
          <a:lstStyle/>
          <a:p>
            <a:pPr>
              <a:spcAft>
                <a:spcPts val="600"/>
              </a:spcAft>
              <a:defRPr sz="1200" b="1">
                <a:solidFill>
                  <a:srgbClr val="55BF95"/>
                </a:solidFill>
                <a:latin typeface="DejaVu Sans"/>
              </a:defRPr>
            </a:pPr>
            <a:r>
              <a:t>REFERENCE COMPUTE</a:t>
            </a:r>
          </a:p>
        </p:txBody>
      </p:sp>
      <p:sp>
        <p:nvSpPr>
          <p:cNvPr id="10" name="TextBox 9"/>
          <p:cNvSpPr txBox="1"/>
          <p:nvPr/>
        </p:nvSpPr>
        <p:spPr>
          <a:xfrm>
            <a:off x="758952" y="3401568"/>
            <a:ext cx="3246120" cy="731520"/>
          </a:xfrm>
          <a:prstGeom prst="rect">
            <a:avLst/>
          </a:prstGeom>
          <a:noFill/>
        </p:spPr>
        <p:txBody>
          <a:bodyPr wrap="square" lIns="0" rIns="0" tIns="0" bIns="0">
            <a:spAutoFit/>
          </a:bodyPr>
          <a:lstStyle/>
          <a:p>
            <a:pPr>
              <a:spcAft>
                <a:spcPts val="600"/>
              </a:spcAft>
              <a:defRPr sz="4000" b="1">
                <a:solidFill>
                  <a:srgbClr val="FFFFFF"/>
                </a:solidFill>
                <a:latin typeface="DejaVu Sans"/>
              </a:defRPr>
            </a:pPr>
            <a:r>
              <a:t>≈ $2.74</a:t>
            </a:r>
          </a:p>
        </p:txBody>
      </p:sp>
      <p:sp>
        <p:nvSpPr>
          <p:cNvPr id="11" name="TextBox 10"/>
          <p:cNvSpPr txBox="1"/>
          <p:nvPr/>
        </p:nvSpPr>
        <p:spPr>
          <a:xfrm>
            <a:off x="758952" y="4315968"/>
            <a:ext cx="3246120" cy="1051560"/>
          </a:xfrm>
          <a:prstGeom prst="rect">
            <a:avLst/>
          </a:prstGeom>
          <a:noFill/>
        </p:spPr>
        <p:txBody>
          <a:bodyPr wrap="square" lIns="0" rIns="0" tIns="0" bIns="0">
            <a:spAutoFit/>
          </a:bodyPr>
          <a:lstStyle/>
          <a:p>
            <a:pPr>
              <a:spcAft>
                <a:spcPts val="600"/>
              </a:spcAft>
              <a:defRPr sz="1500" b="0">
                <a:solidFill>
                  <a:srgbClr val="FFFFFF"/>
                </a:solidFill>
                <a:latin typeface="DejaVu Sans"/>
              </a:defRPr>
            </a:pPr>
            <a:r>
              <a:t>per month before free-tier credits</a:t>
            </a:r>
          </a:p>
          <a:p>
            <a:pPr>
              <a:spcAft>
                <a:spcPts val="600"/>
              </a:spcAft>
              <a:defRPr sz="1500" b="0">
                <a:solidFill>
                  <a:srgbClr val="FFFFFF"/>
                </a:solidFill>
                <a:latin typeface="DejaVu Sans"/>
              </a:defRPr>
            </a:pPr>
            <a:r>
              <a:t>30 active hours · 1 vCPU · 0.5 GiB</a:t>
            </a:r>
          </a:p>
          <a:p>
            <a:pPr>
              <a:spcAft>
                <a:spcPts val="600"/>
              </a:spcAft>
              <a:defRPr sz="1500" b="0">
                <a:solidFill>
                  <a:srgbClr val="FFFFFF"/>
                </a:solidFill>
                <a:latin typeface="DejaVu Sans"/>
              </a:defRPr>
            </a:pPr>
            <a:r>
              <a:t>30,000 requests</a:t>
            </a:r>
          </a:p>
        </p:txBody>
      </p:sp>
      <p:sp>
        <p:nvSpPr>
          <p:cNvPr id="12" name="TextBox 11"/>
          <p:cNvSpPr txBox="1"/>
          <p:nvPr/>
        </p:nvSpPr>
        <p:spPr>
          <a:xfrm>
            <a:off x="4617720" y="2697480"/>
            <a:ext cx="6858000" cy="457200"/>
          </a:xfrm>
          <a:prstGeom prst="rect">
            <a:avLst/>
          </a:prstGeom>
          <a:noFill/>
        </p:spPr>
        <p:txBody>
          <a:bodyPr wrap="square" lIns="0" rIns="0" tIns="0" bIns="0">
            <a:spAutoFit/>
          </a:bodyPr>
          <a:lstStyle/>
          <a:p>
            <a:pPr>
              <a:spcAft>
                <a:spcPts val="600"/>
              </a:spcAft>
              <a:defRPr sz="2200" b="1">
                <a:solidFill>
                  <a:srgbClr val="17221D"/>
                </a:solidFill>
                <a:latin typeface="DejaVu Sans"/>
              </a:defRPr>
            </a:pPr>
            <a:r>
              <a:t>What the estimate includes</a:t>
            </a:r>
          </a:p>
        </p:txBody>
      </p:sp>
      <p:sp>
        <p:nvSpPr>
          <p:cNvPr id="13" name="TextBox 12"/>
          <p:cNvSpPr txBox="1"/>
          <p:nvPr/>
        </p:nvSpPr>
        <p:spPr>
          <a:xfrm>
            <a:off x="4617720" y="3310128"/>
            <a:ext cx="6812280" cy="960120"/>
          </a:xfrm>
          <a:prstGeom prst="rect">
            <a:avLst/>
          </a:prstGeom>
          <a:noFill/>
        </p:spPr>
        <p:txBody>
          <a:bodyPr wrap="square" lIns="0" rIns="0" tIns="0" bIns="0">
            <a:spAutoFit/>
          </a:bodyPr>
          <a:lstStyle/>
          <a:p>
            <a:pPr>
              <a:spcAft>
                <a:spcPts val="600"/>
              </a:spcAft>
              <a:defRPr sz="1600" b="0">
                <a:solidFill>
                  <a:srgbClr val="627169"/>
                </a:solidFill>
                <a:latin typeface="DejaVu Sans"/>
              </a:defRPr>
            </a:pPr>
            <a:r>
              <a:t>Reference request-based Cloud Run rates:</a:t>
            </a:r>
          </a:p>
          <a:p>
            <a:pPr>
              <a:spcAft>
                <a:spcPts val="600"/>
              </a:spcAft>
              <a:defRPr sz="1600" b="0">
                <a:solidFill>
                  <a:srgbClr val="627169"/>
                </a:solidFill>
                <a:latin typeface="DejaVu Sans"/>
              </a:defRPr>
            </a:pPr>
            <a:r>
              <a:t>108,000 sec × ($0.000024 + 0.5 × $0.0000025)</a:t>
            </a:r>
          </a:p>
          <a:p>
            <a:pPr>
              <a:spcAft>
                <a:spcPts val="600"/>
              </a:spcAft>
              <a:defRPr sz="1600" b="0">
                <a:solidFill>
                  <a:srgbClr val="627169"/>
                </a:solidFill>
                <a:latin typeface="DejaVu Sans"/>
              </a:defRPr>
            </a:pPr>
            <a:r>
              <a:t>+ 0.03 million requests × $0.40 = $2.739</a:t>
            </a:r>
          </a:p>
        </p:txBody>
      </p:sp>
      <p:sp>
        <p:nvSpPr>
          <p:cNvPr id="14" name="TextBox 13"/>
          <p:cNvSpPr txBox="1"/>
          <p:nvPr/>
        </p:nvSpPr>
        <p:spPr>
          <a:xfrm>
            <a:off x="4617720" y="4498848"/>
            <a:ext cx="6812280" cy="365760"/>
          </a:xfrm>
          <a:prstGeom prst="rect">
            <a:avLst/>
          </a:prstGeom>
          <a:noFill/>
        </p:spPr>
        <p:txBody>
          <a:bodyPr wrap="square" lIns="0" rIns="0" tIns="0" bIns="0">
            <a:spAutoFit/>
          </a:bodyPr>
          <a:lstStyle/>
          <a:p>
            <a:pPr>
              <a:spcAft>
                <a:spcPts val="600"/>
              </a:spcAft>
              <a:defRPr sz="2000" b="1">
                <a:solidFill>
                  <a:srgbClr val="17221D"/>
                </a:solidFill>
                <a:latin typeface="DejaVu Sans"/>
              </a:defRPr>
            </a:pPr>
            <a:r>
              <a:t>What must be priced separately</a:t>
            </a:r>
          </a:p>
        </p:txBody>
      </p:sp>
      <p:sp>
        <p:nvSpPr>
          <p:cNvPr id="15" name="TextBox 14"/>
          <p:cNvSpPr txBox="1"/>
          <p:nvPr/>
        </p:nvSpPr>
        <p:spPr>
          <a:xfrm>
            <a:off x="4617720" y="5010912"/>
            <a:ext cx="6812280" cy="94183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Gemini tokens / video input, Firestore, secrets, builds, image storage, network transfer, Supabase and labour. Region and billing tier change totals.</a:t>
            </a:r>
          </a:p>
        </p:txBody>
      </p:sp>
      <p:sp>
        <p:nvSpPr>
          <p:cNvPr id="16" name="TextBox 15"/>
          <p:cNvSpPr txBox="1"/>
          <p:nvPr/>
        </p:nvSpPr>
        <p:spPr>
          <a:xfrm>
            <a:off x="548640" y="6126480"/>
            <a:ext cx="10972800" cy="173736"/>
          </a:xfrm>
          <a:prstGeom prst="rect">
            <a:avLst/>
          </a:prstGeom>
          <a:noFill/>
        </p:spPr>
        <p:txBody>
          <a:bodyPr wrap="square" lIns="0" rIns="0" tIns="0" bIns="0">
            <a:spAutoFit/>
          </a:bodyPr>
          <a:lstStyle/>
          <a:p>
            <a:pPr>
              <a:spcAft>
                <a:spcPts val="600"/>
              </a:spcAft>
              <a:defRPr sz="900" b="0">
                <a:solidFill>
                  <a:srgbClr val="627169"/>
                </a:solidFill>
                <a:latin typeface="DejaVu Sans"/>
              </a:defRPr>
            </a:pPr>
            <a:r>
              <a:t>Rate reference: cloud.google.com/run/pricing  •  Full assumptions and exclusions are in the speaker notes.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SNAPSHOTS OF THE PROTOTYPE</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A deployed product judges can open today.</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Live Cloud Run screenshots • 18 October 2026 • deployed under the earlier Curiosity name.</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11</a:t>
            </a:r>
          </a:p>
        </p:txBody>
      </p:sp>
      <p:pic>
        <p:nvPicPr>
          <p:cNvPr id="8" name="Picture 7" descr="hosted-search.png"/>
          <p:cNvPicPr>
            <a:picLocks noChangeAspect="1"/>
          </p:cNvPicPr>
          <p:nvPr/>
        </p:nvPicPr>
        <p:blipFill>
          <a:blip r:embed="rId2"/>
          <a:stretch>
            <a:fillRect/>
          </a:stretch>
        </p:blipFill>
        <p:spPr>
          <a:xfrm>
            <a:off x="1867204" y="2423160"/>
            <a:ext cx="5135270" cy="3566160"/>
          </a:xfrm>
          <a:prstGeom prst="rect">
            <a:avLst/>
          </a:prstGeom>
        </p:spPr>
      </p:pic>
      <p:pic>
        <p:nvPicPr>
          <p:cNvPr id="9" name="Picture 8" descr="hosted-mobile.png"/>
          <p:cNvPicPr>
            <a:picLocks noChangeAspect="1"/>
          </p:cNvPicPr>
          <p:nvPr/>
        </p:nvPicPr>
        <p:blipFill>
          <a:blip r:embed="rId3"/>
          <a:stretch>
            <a:fillRect/>
          </a:stretch>
        </p:blipFill>
        <p:spPr>
          <a:xfrm>
            <a:off x="9163393" y="2331720"/>
            <a:ext cx="1698573" cy="3675887"/>
          </a:xfrm>
          <a:prstGeom prst="rect">
            <a:avLst/>
          </a:prstGeom>
        </p:spPr>
      </p:pic>
      <p:sp>
        <p:nvSpPr>
          <p:cNvPr id="10" name="TextBox 9"/>
          <p:cNvSpPr txBox="1"/>
          <p:nvPr/>
        </p:nvSpPr>
        <p:spPr>
          <a:xfrm>
            <a:off x="612648" y="6053328"/>
            <a:ext cx="7589520" cy="22860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Desktop: GPU results and the teacher workspace.</a:t>
            </a:r>
          </a:p>
        </p:txBody>
      </p:sp>
      <p:sp>
        <p:nvSpPr>
          <p:cNvPr id="11" name="TextBox 10"/>
          <p:cNvSpPr txBox="1"/>
          <p:nvPr/>
        </p:nvSpPr>
        <p:spPr>
          <a:xfrm>
            <a:off x="8595360" y="6053328"/>
            <a:ext cx="2971800" cy="228600"/>
          </a:xfrm>
          <a:prstGeom prst="rect">
            <a:avLst/>
          </a:prstGeom>
          <a:noFill/>
        </p:spPr>
        <p:txBody>
          <a:bodyPr wrap="square" lIns="0" rIns="0" tIns="0" bIns="0">
            <a:spAutoFit/>
          </a:bodyPr>
          <a:lstStyle/>
          <a:p>
            <a:pPr>
              <a:spcAft>
                <a:spcPts val="600"/>
              </a:spcAft>
              <a:defRPr sz="1300" b="1">
                <a:solidFill>
                  <a:srgbClr val="176B4C"/>
                </a:solidFill>
                <a:latin typeface="DejaVu Sans"/>
              </a:defRPr>
            </a:pPr>
            <a:r>
              <a:t>Same URL on a phone.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PROTOTYPE PERFORMANCE REPORT / BENCHMARKING</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Evidence you can inspect. Limits we can name.</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Fresh local verification + one live hosted teacher request + historical retrieval evidence.</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12</a:t>
            </a:r>
          </a:p>
        </p:txBody>
      </p:sp>
      <p:sp>
        <p:nvSpPr>
          <p:cNvPr id="8" name="Rounded Rectangle 7"/>
          <p:cNvSpPr/>
          <p:nvPr/>
        </p:nvSpPr>
        <p:spPr>
          <a:xfrm>
            <a:off x="502920" y="2514600"/>
            <a:ext cx="3520440" cy="1600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670048"/>
            <a:ext cx="3108960" cy="585216"/>
          </a:xfrm>
          <a:prstGeom prst="rect">
            <a:avLst/>
          </a:prstGeom>
          <a:noFill/>
        </p:spPr>
        <p:txBody>
          <a:bodyPr wrap="square" lIns="0" rIns="0" tIns="0" bIns="0">
            <a:spAutoFit/>
          </a:bodyPr>
          <a:lstStyle/>
          <a:p>
            <a:pPr>
              <a:spcAft>
                <a:spcPts val="600"/>
              </a:spcAft>
              <a:defRPr sz="3000" b="1">
                <a:solidFill>
                  <a:srgbClr val="176B4C"/>
                </a:solidFill>
                <a:latin typeface="DejaVu Sans"/>
              </a:defRPr>
            </a:pPr>
            <a:r>
              <a:t>95 / 95</a:t>
            </a:r>
          </a:p>
        </p:txBody>
      </p:sp>
      <p:sp>
        <p:nvSpPr>
          <p:cNvPr id="10" name="TextBox 9"/>
          <p:cNvSpPr txBox="1"/>
          <p:nvPr/>
        </p:nvSpPr>
        <p:spPr>
          <a:xfrm>
            <a:off x="704088" y="3328416"/>
            <a:ext cx="3108960" cy="320040"/>
          </a:xfrm>
          <a:prstGeom prst="rect">
            <a:avLst/>
          </a:prstGeom>
          <a:noFill/>
        </p:spPr>
        <p:txBody>
          <a:bodyPr wrap="square" lIns="0" rIns="0" tIns="0" bIns="0">
            <a:spAutoFit/>
          </a:bodyPr>
          <a:lstStyle/>
          <a:p>
            <a:pPr>
              <a:spcAft>
                <a:spcPts val="600"/>
              </a:spcAft>
              <a:defRPr sz="1600" b="1">
                <a:solidFill>
                  <a:srgbClr val="17221D"/>
                </a:solidFill>
                <a:latin typeface="DejaVu Sans"/>
              </a:defRPr>
            </a:pPr>
            <a:r>
              <a:t>Service / rule checks</a:t>
            </a:r>
          </a:p>
        </p:txBody>
      </p:sp>
      <p:sp>
        <p:nvSpPr>
          <p:cNvPr id="11" name="TextBox 10"/>
          <p:cNvSpPr txBox="1"/>
          <p:nvPr/>
        </p:nvSpPr>
        <p:spPr>
          <a:xfrm>
            <a:off x="704088" y="3739896"/>
            <a:ext cx="3108960" cy="228600"/>
          </a:xfrm>
          <a:prstGeom prst="rect">
            <a:avLst/>
          </a:prstGeom>
          <a:noFill/>
        </p:spPr>
        <p:txBody>
          <a:bodyPr wrap="square" lIns="0" rIns="0" tIns="0" bIns="0">
            <a:spAutoFit/>
          </a:bodyPr>
          <a:lstStyle/>
          <a:p>
            <a:pPr>
              <a:spcAft>
                <a:spcPts val="600"/>
              </a:spcAft>
              <a:defRPr sz="1000" b="0">
                <a:solidFill>
                  <a:srgbClr val="627169"/>
                </a:solidFill>
                <a:latin typeface="DejaVu Sans"/>
              </a:defRPr>
            </a:pPr>
            <a:r>
              <a:t>10 experiment + 85 current tests</a:t>
            </a:r>
          </a:p>
        </p:txBody>
      </p:sp>
      <p:sp>
        <p:nvSpPr>
          <p:cNvPr id="12" name="Rounded Rectangle 11"/>
          <p:cNvSpPr/>
          <p:nvPr/>
        </p:nvSpPr>
        <p:spPr>
          <a:xfrm>
            <a:off x="4325112" y="2514600"/>
            <a:ext cx="3520440" cy="1600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2670048"/>
            <a:ext cx="3108960" cy="585216"/>
          </a:xfrm>
          <a:prstGeom prst="rect">
            <a:avLst/>
          </a:prstGeom>
          <a:noFill/>
        </p:spPr>
        <p:txBody>
          <a:bodyPr wrap="square" lIns="0" rIns="0" tIns="0" bIns="0">
            <a:spAutoFit/>
          </a:bodyPr>
          <a:lstStyle/>
          <a:p>
            <a:pPr>
              <a:spcAft>
                <a:spcPts val="600"/>
              </a:spcAft>
              <a:defRPr sz="3000" b="1">
                <a:solidFill>
                  <a:srgbClr val="176B4C"/>
                </a:solidFill>
                <a:latin typeface="DejaVu Sans"/>
              </a:defRPr>
            </a:pPr>
            <a:r>
              <a:t>63 / 64</a:t>
            </a:r>
          </a:p>
        </p:txBody>
      </p:sp>
      <p:sp>
        <p:nvSpPr>
          <p:cNvPr id="14" name="TextBox 13"/>
          <p:cNvSpPr txBox="1"/>
          <p:nvPr/>
        </p:nvSpPr>
        <p:spPr>
          <a:xfrm>
            <a:off x="4526279" y="3328416"/>
            <a:ext cx="3108960" cy="320040"/>
          </a:xfrm>
          <a:prstGeom prst="rect">
            <a:avLst/>
          </a:prstGeom>
          <a:noFill/>
        </p:spPr>
        <p:txBody>
          <a:bodyPr wrap="square" lIns="0" rIns="0" tIns="0" bIns="0">
            <a:spAutoFit/>
          </a:bodyPr>
          <a:lstStyle/>
          <a:p>
            <a:pPr>
              <a:spcAft>
                <a:spcPts val="600"/>
              </a:spcAft>
              <a:defRPr sz="1600" b="1">
                <a:solidFill>
                  <a:srgbClr val="17221D"/>
                </a:solidFill>
                <a:latin typeface="DejaVu Sans"/>
              </a:defRPr>
            </a:pPr>
            <a:r>
              <a:t>Browser journeys</a:t>
            </a:r>
          </a:p>
        </p:txBody>
      </p:sp>
      <p:sp>
        <p:nvSpPr>
          <p:cNvPr id="15" name="TextBox 14"/>
          <p:cNvSpPr txBox="1"/>
          <p:nvPr/>
        </p:nvSpPr>
        <p:spPr>
          <a:xfrm>
            <a:off x="4526279" y="3739896"/>
            <a:ext cx="3108960" cy="228600"/>
          </a:xfrm>
          <a:prstGeom prst="rect">
            <a:avLst/>
          </a:prstGeom>
          <a:noFill/>
        </p:spPr>
        <p:txBody>
          <a:bodyPr wrap="square" lIns="0" rIns="0" tIns="0" bIns="0">
            <a:spAutoFit/>
          </a:bodyPr>
          <a:lstStyle/>
          <a:p>
            <a:pPr>
              <a:spcAft>
                <a:spcPts val="600"/>
              </a:spcAft>
              <a:defRPr sz="1000" b="0">
                <a:solidFill>
                  <a:srgbClr val="627169"/>
                </a:solidFill>
                <a:latin typeface="DejaVu Sans"/>
              </a:defRPr>
            </a:pPr>
            <a:r>
              <a:t>Simulated APIs, accounts and player</a:t>
            </a:r>
          </a:p>
        </p:txBody>
      </p:sp>
      <p:sp>
        <p:nvSpPr>
          <p:cNvPr id="16" name="Rounded Rectangle 15"/>
          <p:cNvSpPr/>
          <p:nvPr/>
        </p:nvSpPr>
        <p:spPr>
          <a:xfrm>
            <a:off x="8147304" y="2514600"/>
            <a:ext cx="3520440" cy="1600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2670048"/>
            <a:ext cx="3108960" cy="585216"/>
          </a:xfrm>
          <a:prstGeom prst="rect">
            <a:avLst/>
          </a:prstGeom>
          <a:noFill/>
        </p:spPr>
        <p:txBody>
          <a:bodyPr wrap="square" lIns="0" rIns="0" tIns="0" bIns="0">
            <a:spAutoFit/>
          </a:bodyPr>
          <a:lstStyle/>
          <a:p>
            <a:pPr>
              <a:spcAft>
                <a:spcPts val="600"/>
              </a:spcAft>
              <a:defRPr sz="3000" b="1">
                <a:solidFill>
                  <a:srgbClr val="176B4C"/>
                </a:solidFill>
                <a:latin typeface="DejaVu Sans"/>
              </a:defRPr>
            </a:pPr>
            <a:r>
              <a:t>PASS</a:t>
            </a:r>
          </a:p>
        </p:txBody>
      </p:sp>
      <p:sp>
        <p:nvSpPr>
          <p:cNvPr id="18" name="TextBox 17"/>
          <p:cNvSpPr txBox="1"/>
          <p:nvPr/>
        </p:nvSpPr>
        <p:spPr>
          <a:xfrm>
            <a:off x="8348472" y="3328416"/>
            <a:ext cx="3108960" cy="320040"/>
          </a:xfrm>
          <a:prstGeom prst="rect">
            <a:avLst/>
          </a:prstGeom>
          <a:noFill/>
        </p:spPr>
        <p:txBody>
          <a:bodyPr wrap="square" lIns="0" rIns="0" tIns="0" bIns="0">
            <a:spAutoFit/>
          </a:bodyPr>
          <a:lstStyle/>
          <a:p>
            <a:pPr>
              <a:spcAft>
                <a:spcPts val="600"/>
              </a:spcAft>
              <a:defRPr sz="1600" b="1">
                <a:solidFill>
                  <a:srgbClr val="17221D"/>
                </a:solidFill>
                <a:latin typeface="DejaVu Sans"/>
              </a:defRPr>
            </a:pPr>
            <a:r>
              <a:t>Production build</a:t>
            </a:r>
          </a:p>
        </p:txBody>
      </p:sp>
      <p:sp>
        <p:nvSpPr>
          <p:cNvPr id="19" name="TextBox 18"/>
          <p:cNvSpPr txBox="1"/>
          <p:nvPr/>
        </p:nvSpPr>
        <p:spPr>
          <a:xfrm>
            <a:off x="8348472" y="3739896"/>
            <a:ext cx="3108960" cy="228600"/>
          </a:xfrm>
          <a:prstGeom prst="rect">
            <a:avLst/>
          </a:prstGeom>
          <a:noFill/>
        </p:spPr>
        <p:txBody>
          <a:bodyPr wrap="square" lIns="0" rIns="0" tIns="0" bIns="0">
            <a:spAutoFit/>
          </a:bodyPr>
          <a:lstStyle/>
          <a:p>
            <a:pPr>
              <a:spcAft>
                <a:spcPts val="600"/>
              </a:spcAft>
              <a:defRPr sz="1000" b="0">
                <a:solidFill>
                  <a:srgbClr val="627169"/>
                </a:solidFill>
                <a:latin typeface="DejaVu Sans"/>
              </a:defRPr>
            </a:pPr>
            <a:r>
              <a:t>Type checks + browser bundle</a:t>
            </a:r>
          </a:p>
        </p:txBody>
      </p:sp>
      <p:sp>
        <p:nvSpPr>
          <p:cNvPr id="20" name="TextBox 19"/>
          <p:cNvSpPr txBox="1"/>
          <p:nvPr/>
        </p:nvSpPr>
        <p:spPr>
          <a:xfrm>
            <a:off x="594360" y="4480560"/>
            <a:ext cx="10972800" cy="365760"/>
          </a:xfrm>
          <a:prstGeom prst="rect">
            <a:avLst/>
          </a:prstGeom>
          <a:noFill/>
        </p:spPr>
        <p:txBody>
          <a:bodyPr wrap="square" lIns="0" rIns="0" tIns="0" bIns="0">
            <a:spAutoFit/>
          </a:bodyPr>
          <a:lstStyle/>
          <a:p>
            <a:pPr>
              <a:spcAft>
                <a:spcPts val="600"/>
              </a:spcAft>
              <a:defRPr sz="2000" b="1">
                <a:solidFill>
                  <a:srgbClr val="17221D"/>
                </a:solidFill>
                <a:latin typeface="DejaVu Sans"/>
              </a:defRPr>
            </a:pPr>
            <a:r>
              <a:t>Live hosted check · 18 October</a:t>
            </a:r>
          </a:p>
        </p:txBody>
      </p:sp>
      <p:sp>
        <p:nvSpPr>
          <p:cNvPr id="21" name="TextBox 20"/>
          <p:cNvSpPr txBox="1"/>
          <p:nvPr/>
        </p:nvSpPr>
        <p:spPr>
          <a:xfrm>
            <a:off x="594360" y="5010912"/>
            <a:ext cx="10972800" cy="640080"/>
          </a:xfrm>
          <a:prstGeom prst="rect">
            <a:avLst/>
          </a:prstGeom>
          <a:noFill/>
        </p:spPr>
        <p:txBody>
          <a:bodyPr wrap="square" lIns="0" rIns="0" tIns="0" bIns="0">
            <a:spAutoFit/>
          </a:bodyPr>
          <a:lstStyle/>
          <a:p>
            <a:pPr>
              <a:spcAft>
                <a:spcPts val="600"/>
              </a:spcAft>
              <a:defRPr sz="1700" b="0">
                <a:solidFill>
                  <a:srgbClr val="627169"/>
                </a:solidFill>
                <a:latin typeface="DejaVu Sans"/>
              </a:defRPr>
            </a:pPr>
            <a:r>
              <a:t>2.53 seconds: one hosted teacher response + two video suggestions.</a:t>
            </a:r>
          </a:p>
          <a:p>
            <a:pPr>
              <a:spcAft>
                <a:spcPts val="600"/>
              </a:spcAft>
              <a:defRPr sz="1700" b="0">
                <a:solidFill>
                  <a:srgbClr val="627169"/>
                </a:solidFill>
                <a:latin typeface="DejaVu Sans"/>
              </a:defRPr>
            </a:pPr>
            <a:r>
              <a:t>Earlier YouTube check: 18 unique videos in 867 ms (13 October).</a:t>
            </a:r>
          </a:p>
        </p:txBody>
      </p:sp>
      <p:sp>
        <p:nvSpPr>
          <p:cNvPr id="22" name="TextBox 21"/>
          <p:cNvSpPr txBox="1"/>
          <p:nvPr/>
        </p:nvSpPr>
        <p:spPr>
          <a:xfrm>
            <a:off x="594360" y="5879592"/>
            <a:ext cx="10972800" cy="365760"/>
          </a:xfrm>
          <a:prstGeom prst="rect">
            <a:avLst/>
          </a:prstGeom>
          <a:noFill/>
        </p:spPr>
        <p:txBody>
          <a:bodyPr wrap="square" lIns="0" rIns="0" tIns="0" bIns="0">
            <a:spAutoFit/>
          </a:bodyPr>
          <a:lstStyle/>
          <a:p>
            <a:pPr>
              <a:spcAft>
                <a:spcPts val="600"/>
              </a:spcAft>
              <a:defRPr sz="1200" b="1">
                <a:solidFill>
                  <a:srgbClr val="176B4C"/>
                </a:solidFill>
                <a:latin typeface="DejaVu Sans"/>
              </a:defRPr>
            </a:pPr>
            <a:r>
              <a:t>Single observations, not load tests. One legacy saved-search browser path failed; learning impact is unmeasured.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ADDITIONAL DETAILS / FUTURE DEVELOPMENT</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17221D"/>
                </a:solidFill>
                <a:latin typeface="DejaVu Sans"/>
              </a:defRPr>
            </a:pPr>
            <a:r>
              <a:t>Prove the learning value. Then expand the map.</a:t>
            </a:r>
          </a:p>
        </p:txBody>
      </p:sp>
      <p:sp>
        <p:nvSpPr>
          <p:cNvPr id="4" name="TextBox 3"/>
          <p:cNvSpPr txBox="1"/>
          <p:nvPr/>
        </p:nvSpPr>
        <p:spPr>
          <a:xfrm>
            <a:off x="521207" y="1847088"/>
            <a:ext cx="10972800" cy="530352"/>
          </a:xfrm>
          <a:prstGeom prst="rect">
            <a:avLst/>
          </a:prstGeom>
          <a:noFill/>
        </p:spPr>
        <p:txBody>
          <a:bodyPr wrap="square" lIns="0" rIns="0" tIns="0" bIns="0">
            <a:spAutoFit/>
          </a:bodyPr>
          <a:lstStyle/>
          <a:p>
            <a:pPr>
              <a:spcAft>
                <a:spcPts val="600"/>
              </a:spcAft>
              <a:defRPr sz="1500" b="0">
                <a:solidFill>
                  <a:srgbClr val="627169"/>
                </a:solidFill>
                <a:latin typeface="DejaVu Sans"/>
              </a:defRPr>
            </a:pPr>
            <a:r>
              <a:t>A focused next step, with outcomes measured before broader scale.</a:t>
            </a:r>
          </a:p>
        </p:txBody>
      </p:sp>
      <p:cxnSp>
        <p:nvCxnSpPr>
          <p:cNvPr id="5" name="Connector 4"/>
          <p:cNvCxnSpPr/>
          <p:nvPr/>
        </p:nvCxnSpPr>
        <p:spPr>
          <a:xfrm>
            <a:off x="502920" y="6428232"/>
            <a:ext cx="11183112" cy="0"/>
          </a:xfrm>
          <a:prstGeom prst="line">
            <a:avLst/>
          </a:prstGeom>
          <a:ln w="25400">
            <a:solidFill>
              <a:srgbClr val="DCE4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627169"/>
                </a:solidFill>
                <a:latin typeface="DejaVu Sans"/>
              </a:defRPr>
            </a:pPr>
            <a:r>
              <a:t>REVELINK  /  SSRD  /  AI BUILDER CUP 2026</a:t>
            </a:r>
          </a:p>
        </p:txBody>
      </p:sp>
      <p:sp>
        <p:nvSpPr>
          <p:cNvPr id="7" name="TextBox 6"/>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176B4C"/>
                </a:solidFill>
                <a:latin typeface="DejaVu Sans"/>
              </a:defRPr>
            </a:pPr>
            <a:r>
              <a:t>13</a:t>
            </a:r>
          </a:p>
        </p:txBody>
      </p:sp>
      <p:sp>
        <p:nvSpPr>
          <p:cNvPr id="8" name="Rounded Rectangle 7"/>
          <p:cNvSpPr/>
          <p:nvPr/>
        </p:nvSpPr>
        <p:spPr>
          <a:xfrm>
            <a:off x="502920" y="2514600"/>
            <a:ext cx="3520440" cy="33832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697480"/>
            <a:ext cx="3099816"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NEXT / RELEASE READINESS</a:t>
            </a:r>
          </a:p>
        </p:txBody>
      </p:sp>
      <p:sp>
        <p:nvSpPr>
          <p:cNvPr id="10" name="TextBox 9"/>
          <p:cNvSpPr txBox="1"/>
          <p:nvPr/>
        </p:nvSpPr>
        <p:spPr>
          <a:xfrm>
            <a:off x="713232" y="3136392"/>
            <a:ext cx="3099816" cy="731520"/>
          </a:xfrm>
          <a:prstGeom prst="rect">
            <a:avLst/>
          </a:prstGeom>
          <a:noFill/>
        </p:spPr>
        <p:txBody>
          <a:bodyPr wrap="square" lIns="0" rIns="0" tIns="0" bIns="0">
            <a:spAutoFit/>
          </a:bodyPr>
          <a:lstStyle/>
          <a:p>
            <a:pPr>
              <a:spcAft>
                <a:spcPts val="600"/>
              </a:spcAft>
              <a:defRPr sz="2200" b="1">
                <a:solidFill>
                  <a:srgbClr val="17221D"/>
                </a:solidFill>
                <a:latin typeface="DejaVu Sans"/>
              </a:defRPr>
            </a:pPr>
            <a:r>
              <a:t>Align the demo</a:t>
            </a:r>
          </a:p>
        </p:txBody>
      </p:sp>
      <p:sp>
        <p:nvSpPr>
          <p:cNvPr id="11" name="TextBox 10"/>
          <p:cNvSpPr txBox="1"/>
          <p:nvPr/>
        </p:nvSpPr>
        <p:spPr>
          <a:xfrm>
            <a:off x="713232" y="3959352"/>
            <a:ext cx="3099816" cy="1828800"/>
          </a:xfrm>
          <a:prstGeom prst="rect">
            <a:avLst/>
          </a:prstGeom>
          <a:noFill/>
        </p:spPr>
        <p:txBody>
          <a:bodyPr wrap="square" lIns="0" rIns="0" tIns="0" bIns="0">
            <a:spAutoFit/>
          </a:bodyPr>
          <a:lstStyle/>
          <a:p>
            <a:pPr>
              <a:spcAft>
                <a:spcPts val="600"/>
              </a:spcAft>
              <a:defRPr sz="1600" b="0">
                <a:solidFill>
                  <a:srgbClr val="627169"/>
                </a:solidFill>
                <a:latin typeface="DejaVu Sans"/>
              </a:defRPr>
            </a:pPr>
            <a:r>
              <a:t>Deploy the approved build, resolve the legacy-search regression, review real account sync and run a hosted end-to-end check.</a:t>
            </a:r>
          </a:p>
        </p:txBody>
      </p:sp>
      <p:sp>
        <p:nvSpPr>
          <p:cNvPr id="12" name="Rounded Rectangle 11"/>
          <p:cNvSpPr/>
          <p:nvPr/>
        </p:nvSpPr>
        <p:spPr>
          <a:xfrm>
            <a:off x="4325112" y="2514600"/>
            <a:ext cx="3520440" cy="33832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697480"/>
            <a:ext cx="3099816"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NEXT / LEARNER PILOT</a:t>
            </a:r>
          </a:p>
        </p:txBody>
      </p:sp>
      <p:sp>
        <p:nvSpPr>
          <p:cNvPr id="14" name="TextBox 13"/>
          <p:cNvSpPr txBox="1"/>
          <p:nvPr/>
        </p:nvSpPr>
        <p:spPr>
          <a:xfrm>
            <a:off x="4535424" y="3136392"/>
            <a:ext cx="3099816" cy="731520"/>
          </a:xfrm>
          <a:prstGeom prst="rect">
            <a:avLst/>
          </a:prstGeom>
          <a:noFill/>
        </p:spPr>
        <p:txBody>
          <a:bodyPr wrap="square" lIns="0" rIns="0" tIns="0" bIns="0">
            <a:spAutoFit/>
          </a:bodyPr>
          <a:lstStyle/>
          <a:p>
            <a:pPr>
              <a:spcAft>
                <a:spcPts val="600"/>
              </a:spcAft>
              <a:defRPr sz="2200" b="1">
                <a:solidFill>
                  <a:srgbClr val="17221D"/>
                </a:solidFill>
                <a:latin typeface="DejaVu Sans"/>
              </a:defRPr>
            </a:pPr>
            <a:r>
              <a:t>Test the core hypothesis</a:t>
            </a:r>
          </a:p>
        </p:txBody>
      </p:sp>
      <p:sp>
        <p:nvSpPr>
          <p:cNvPr id="15" name="TextBox 14"/>
          <p:cNvSpPr txBox="1"/>
          <p:nvPr/>
        </p:nvSpPr>
        <p:spPr>
          <a:xfrm>
            <a:off x="4535424" y="3959352"/>
            <a:ext cx="3099816" cy="1828800"/>
          </a:xfrm>
          <a:prstGeom prst="rect">
            <a:avLst/>
          </a:prstGeom>
          <a:noFill/>
        </p:spPr>
        <p:txBody>
          <a:bodyPr wrap="square" lIns="0" rIns="0" tIns="0" bIns="0">
            <a:spAutoFit/>
          </a:bodyPr>
          <a:lstStyle/>
          <a:p>
            <a:pPr>
              <a:spcAft>
                <a:spcPts val="600"/>
              </a:spcAft>
              <a:defRPr sz="1600" b="0">
                <a:solidFill>
                  <a:srgbClr val="627169"/>
                </a:solidFill>
                <a:latin typeface="DejaVu Sans"/>
              </a:defRPr>
            </a:pPr>
            <a:r>
              <a:t>Recruit 10–15 adult learners. Compare time to resolve a doubt, task completion, context switches and voluntary return.</a:t>
            </a:r>
          </a:p>
        </p:txBody>
      </p:sp>
      <p:sp>
        <p:nvSpPr>
          <p:cNvPr id="16" name="Rounded Rectangle 15"/>
          <p:cNvSpPr/>
          <p:nvPr/>
        </p:nvSpPr>
        <p:spPr>
          <a:xfrm>
            <a:off x="8147304" y="2514600"/>
            <a:ext cx="3520440" cy="33832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6" y="2697480"/>
            <a:ext cx="3099816" cy="274320"/>
          </a:xfrm>
          <a:prstGeom prst="rect">
            <a:avLst/>
          </a:prstGeom>
          <a:noFill/>
        </p:spPr>
        <p:txBody>
          <a:bodyPr wrap="square" lIns="0" rIns="0" tIns="0" bIns="0">
            <a:spAutoFit/>
          </a:bodyPr>
          <a:lstStyle/>
          <a:p>
            <a:pPr>
              <a:spcAft>
                <a:spcPts val="600"/>
              </a:spcAft>
              <a:defRPr sz="1100" b="1">
                <a:solidFill>
                  <a:srgbClr val="176B4C"/>
                </a:solidFill>
                <a:latin typeface="DejaVu Sans"/>
              </a:defRPr>
            </a:pPr>
            <a:r>
              <a:t>LATER / DISCOVERY</a:t>
            </a:r>
          </a:p>
        </p:txBody>
      </p:sp>
      <p:sp>
        <p:nvSpPr>
          <p:cNvPr id="18" name="TextBox 17"/>
          <p:cNvSpPr txBox="1"/>
          <p:nvPr/>
        </p:nvSpPr>
        <p:spPr>
          <a:xfrm>
            <a:off x="8357616" y="3136392"/>
            <a:ext cx="3099816" cy="731520"/>
          </a:xfrm>
          <a:prstGeom prst="rect">
            <a:avLst/>
          </a:prstGeom>
          <a:noFill/>
        </p:spPr>
        <p:txBody>
          <a:bodyPr wrap="square" lIns="0" rIns="0" tIns="0" bIns="0">
            <a:spAutoFit/>
          </a:bodyPr>
          <a:lstStyle/>
          <a:p>
            <a:pPr>
              <a:spcAft>
                <a:spcPts val="600"/>
              </a:spcAft>
              <a:defRPr sz="2200" b="1">
                <a:solidFill>
                  <a:srgbClr val="17221D"/>
                </a:solidFill>
                <a:latin typeface="DejaVu Sans"/>
              </a:defRPr>
            </a:pPr>
            <a:r>
              <a:t>Connect adjacent ideas</a:t>
            </a:r>
          </a:p>
        </p:txBody>
      </p:sp>
      <p:sp>
        <p:nvSpPr>
          <p:cNvPr id="19" name="TextBox 18"/>
          <p:cNvSpPr txBox="1"/>
          <p:nvPr/>
        </p:nvSpPr>
        <p:spPr>
          <a:xfrm>
            <a:off x="8357616" y="3959352"/>
            <a:ext cx="3099816" cy="1828800"/>
          </a:xfrm>
          <a:prstGeom prst="rect">
            <a:avLst/>
          </a:prstGeom>
          <a:noFill/>
        </p:spPr>
        <p:txBody>
          <a:bodyPr wrap="square" lIns="0" rIns="0" tIns="0" bIns="0">
            <a:spAutoFit/>
          </a:bodyPr>
          <a:lstStyle/>
          <a:p>
            <a:pPr>
              <a:spcAft>
                <a:spcPts val="600"/>
              </a:spcAft>
              <a:defRPr sz="1600" b="0">
                <a:solidFill>
                  <a:srgbClr val="627169"/>
                </a:solidFill>
                <a:latin typeface="DejaVu Sans"/>
              </a:defRPr>
            </a:pPr>
            <a:r>
              <a:t>Activate the reviewed learning graph, test progress assessments, and add distributed scheduling before multiple replicas.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B22"/>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square" lIns="0" rIns="0" tIns="0" bIns="0">
            <a:spAutoFit/>
          </a:bodyPr>
          <a:lstStyle/>
          <a:p>
            <a:pPr>
              <a:spcAft>
                <a:spcPts val="600"/>
              </a:spcAft>
              <a:defRPr sz="1100" b="1">
                <a:solidFill>
                  <a:srgbClr val="55BF95"/>
                </a:solidFill>
                <a:latin typeface="DejaVu Sans"/>
              </a:defRPr>
            </a:pPr>
            <a:r>
              <a:t>SUBMISSION LINKS</a:t>
            </a:r>
          </a:p>
        </p:txBody>
      </p:sp>
      <p:sp>
        <p:nvSpPr>
          <p:cNvPr id="3" name="TextBox 2"/>
          <p:cNvSpPr txBox="1"/>
          <p:nvPr/>
        </p:nvSpPr>
        <p:spPr>
          <a:xfrm>
            <a:off x="502920" y="804672"/>
            <a:ext cx="11064240" cy="1024128"/>
          </a:xfrm>
          <a:prstGeom prst="rect">
            <a:avLst/>
          </a:prstGeom>
          <a:noFill/>
        </p:spPr>
        <p:txBody>
          <a:bodyPr wrap="square" lIns="0" rIns="0" tIns="0" bIns="0">
            <a:spAutoFit/>
          </a:bodyPr>
          <a:lstStyle/>
          <a:p>
            <a:pPr>
              <a:spcAft>
                <a:spcPts val="600"/>
              </a:spcAft>
              <a:defRPr sz="3100" b="1">
                <a:solidFill>
                  <a:srgbClr val="FFFFFF"/>
                </a:solidFill>
                <a:latin typeface="DejaVu Sans"/>
              </a:defRPr>
            </a:pPr>
            <a:r>
              <a:t>Try one curiosity. Follow it through.</a:t>
            </a:r>
          </a:p>
        </p:txBody>
      </p:sp>
      <p:cxnSp>
        <p:nvCxnSpPr>
          <p:cNvPr id="4" name="Connector 3"/>
          <p:cNvCxnSpPr/>
          <p:nvPr/>
        </p:nvCxnSpPr>
        <p:spPr>
          <a:xfrm>
            <a:off x="502920" y="6428232"/>
            <a:ext cx="11183112" cy="0"/>
          </a:xfrm>
          <a:prstGeom prst="line">
            <a:avLst/>
          </a:prstGeom>
          <a:ln w="25400">
            <a:solidFill>
              <a:srgbClr val="176B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0528"/>
            <a:ext cx="9875520" cy="182880"/>
          </a:xfrm>
          <a:prstGeom prst="rect">
            <a:avLst/>
          </a:prstGeom>
          <a:noFill/>
        </p:spPr>
        <p:txBody>
          <a:bodyPr wrap="square" lIns="0" rIns="0" tIns="0" bIns="0">
            <a:spAutoFit/>
          </a:bodyPr>
          <a:lstStyle/>
          <a:p>
            <a:pPr>
              <a:spcAft>
                <a:spcPts val="600"/>
              </a:spcAft>
              <a:defRPr sz="800" b="0">
                <a:solidFill>
                  <a:srgbClr val="E6F0E8"/>
                </a:solidFill>
                <a:latin typeface="DejaVu Sans"/>
              </a:defRPr>
            </a:pPr>
            <a:r>
              <a:t>REVELINK  /  SSRD  /  AI BUILDER CUP 2026</a:t>
            </a:r>
          </a:p>
        </p:txBody>
      </p:sp>
      <p:sp>
        <p:nvSpPr>
          <p:cNvPr id="6" name="TextBox 5"/>
          <p:cNvSpPr txBox="1"/>
          <p:nvPr/>
        </p:nvSpPr>
        <p:spPr>
          <a:xfrm>
            <a:off x="11064240" y="6492240"/>
            <a:ext cx="594360" cy="228600"/>
          </a:xfrm>
          <a:prstGeom prst="rect">
            <a:avLst/>
          </a:prstGeom>
          <a:noFill/>
        </p:spPr>
        <p:txBody>
          <a:bodyPr wrap="square" lIns="0" rIns="0" tIns="0" bIns="0">
            <a:spAutoFit/>
          </a:bodyPr>
          <a:lstStyle/>
          <a:p>
            <a:pPr algn="r">
              <a:spcAft>
                <a:spcPts val="600"/>
              </a:spcAft>
              <a:defRPr sz="1000" b="1">
                <a:solidFill>
                  <a:srgbClr val="55BF95"/>
                </a:solidFill>
                <a:latin typeface="DejaVu Sans"/>
              </a:defRPr>
            </a:pPr>
            <a:r>
              <a:t>14</a:t>
            </a:r>
          </a:p>
        </p:txBody>
      </p:sp>
      <p:sp>
        <p:nvSpPr>
          <p:cNvPr id="7" name="TextBox 6"/>
          <p:cNvSpPr txBox="1"/>
          <p:nvPr/>
        </p:nvSpPr>
        <p:spPr>
          <a:xfrm>
            <a:off x="566928" y="2103120"/>
            <a:ext cx="10881360" cy="548640"/>
          </a:xfrm>
          <a:prstGeom prst="rect">
            <a:avLst/>
          </a:prstGeom>
          <a:noFill/>
        </p:spPr>
        <p:txBody>
          <a:bodyPr wrap="square" lIns="0" rIns="0" tIns="0" bIns="0">
            <a:spAutoFit/>
          </a:bodyPr>
          <a:lstStyle/>
          <a:p>
            <a:pPr>
              <a:spcAft>
                <a:spcPts val="600"/>
              </a:spcAft>
              <a:defRPr sz="2200" b="1">
                <a:solidFill>
                  <a:srgbClr val="55BF95"/>
                </a:solidFill>
                <a:latin typeface="DejaVu Sans"/>
              </a:defRPr>
            </a:pPr>
            <a:r>
              <a:t>Search “GPUs” → ask a question → explore → return later.</a:t>
            </a:r>
          </a:p>
        </p:txBody>
      </p:sp>
      <p:sp>
        <p:nvSpPr>
          <p:cNvPr id="8" name="TextBox 7"/>
          <p:cNvSpPr txBox="1"/>
          <p:nvPr/>
        </p:nvSpPr>
        <p:spPr>
          <a:xfrm>
            <a:off x="594360" y="3017520"/>
            <a:ext cx="10789920" cy="228600"/>
          </a:xfrm>
          <a:prstGeom prst="rect">
            <a:avLst/>
          </a:prstGeom>
          <a:noFill/>
        </p:spPr>
        <p:txBody>
          <a:bodyPr wrap="square" lIns="0" rIns="0" tIns="0" bIns="0">
            <a:spAutoFit/>
          </a:bodyPr>
          <a:lstStyle/>
          <a:p>
            <a:pPr>
              <a:spcAft>
                <a:spcPts val="600"/>
              </a:spcAft>
              <a:defRPr sz="1000" b="1">
                <a:solidFill>
                  <a:srgbClr val="55BF95"/>
                </a:solidFill>
                <a:latin typeface="DejaVu Sans"/>
              </a:defRPr>
            </a:pPr>
            <a:r>
              <a:t>FINAL PRODUCT</a:t>
            </a:r>
          </a:p>
        </p:txBody>
      </p:sp>
      <p:sp>
        <p:nvSpPr>
          <p:cNvPr id="9" name="TextBox 8"/>
          <p:cNvSpPr txBox="1"/>
          <p:nvPr/>
        </p:nvSpPr>
        <p:spPr>
          <a:xfrm>
            <a:off x="594360" y="3346703"/>
            <a:ext cx="10789920" cy="411480"/>
          </a:xfrm>
          <a:prstGeom prst="rect">
            <a:avLst/>
          </a:prstGeom>
          <a:noFill/>
        </p:spPr>
        <p:txBody>
          <a:bodyPr wrap="square" lIns="0" rIns="0" tIns="0" bIns="0">
            <a:spAutoFit/>
          </a:bodyPr>
          <a:lstStyle/>
          <a:p>
            <a:pPr>
              <a:spcAft>
                <a:spcPts val="600"/>
              </a:spcAft>
              <a:defRPr sz="1900" b="0">
                <a:solidFill>
                  <a:srgbClr val="FFFFFF"/>
                </a:solidFill>
                <a:latin typeface="DejaVu Sans"/>
              </a:defRPr>
            </a:pPr>
            <a:r>
              <a:rPr>
                <a:hlinkClick r:id="rId2"/>
              </a:rPr>
              <a:t>https://curiosity-u2ubbw6fra-el.a.run.app</a:t>
            </a:r>
          </a:p>
        </p:txBody>
      </p:sp>
      <p:sp>
        <p:nvSpPr>
          <p:cNvPr id="10" name="TextBox 9"/>
          <p:cNvSpPr txBox="1"/>
          <p:nvPr/>
        </p:nvSpPr>
        <p:spPr>
          <a:xfrm>
            <a:off x="594360" y="3977639"/>
            <a:ext cx="10789920" cy="228600"/>
          </a:xfrm>
          <a:prstGeom prst="rect">
            <a:avLst/>
          </a:prstGeom>
          <a:noFill/>
        </p:spPr>
        <p:txBody>
          <a:bodyPr wrap="square" lIns="0" rIns="0" tIns="0" bIns="0">
            <a:spAutoFit/>
          </a:bodyPr>
          <a:lstStyle/>
          <a:p>
            <a:pPr>
              <a:spcAft>
                <a:spcPts val="600"/>
              </a:spcAft>
              <a:defRPr sz="1000" b="1">
                <a:solidFill>
                  <a:srgbClr val="55BF95"/>
                </a:solidFill>
                <a:latin typeface="DejaVu Sans"/>
              </a:defRPr>
            </a:pPr>
            <a:r>
              <a:t>PUBLIC GITHUB REPOSITORY</a:t>
            </a:r>
          </a:p>
        </p:txBody>
      </p:sp>
      <p:sp>
        <p:nvSpPr>
          <p:cNvPr id="11" name="TextBox 10"/>
          <p:cNvSpPr txBox="1"/>
          <p:nvPr/>
        </p:nvSpPr>
        <p:spPr>
          <a:xfrm>
            <a:off x="594360" y="4306824"/>
            <a:ext cx="10789920" cy="411480"/>
          </a:xfrm>
          <a:prstGeom prst="rect">
            <a:avLst/>
          </a:prstGeom>
          <a:noFill/>
        </p:spPr>
        <p:txBody>
          <a:bodyPr wrap="square" lIns="0" rIns="0" tIns="0" bIns="0">
            <a:spAutoFit/>
          </a:bodyPr>
          <a:lstStyle/>
          <a:p>
            <a:pPr>
              <a:spcAft>
                <a:spcPts val="600"/>
              </a:spcAft>
              <a:defRPr sz="1900" b="0">
                <a:solidFill>
                  <a:srgbClr val="FFFFFF"/>
                </a:solidFill>
                <a:latin typeface="DejaVu Sans"/>
              </a:defRPr>
            </a:pPr>
            <a:r>
              <a:rPr>
                <a:hlinkClick r:id="rId3"/>
              </a:rPr>
              <a:t>https://github.com/SubramDas/Curiosity</a:t>
            </a:r>
          </a:p>
        </p:txBody>
      </p:sp>
      <p:sp>
        <p:nvSpPr>
          <p:cNvPr id="12" name="TextBox 11"/>
          <p:cNvSpPr txBox="1"/>
          <p:nvPr/>
        </p:nvSpPr>
        <p:spPr>
          <a:xfrm>
            <a:off x="594360" y="4937760"/>
            <a:ext cx="10789920" cy="228600"/>
          </a:xfrm>
          <a:prstGeom prst="rect">
            <a:avLst/>
          </a:prstGeom>
          <a:noFill/>
        </p:spPr>
        <p:txBody>
          <a:bodyPr wrap="square" lIns="0" rIns="0" tIns="0" bIns="0">
            <a:spAutoFit/>
          </a:bodyPr>
          <a:lstStyle/>
          <a:p>
            <a:pPr>
              <a:spcAft>
                <a:spcPts val="600"/>
              </a:spcAft>
              <a:defRPr sz="1000" b="1">
                <a:solidFill>
                  <a:srgbClr val="55BF95"/>
                </a:solidFill>
                <a:latin typeface="DejaVu Sans"/>
              </a:defRPr>
            </a:pPr>
            <a:r>
              <a:t>DEMO VIDEO · UNDER 3 MINUTES</a:t>
            </a:r>
          </a:p>
        </p:txBody>
      </p:sp>
      <p:sp>
        <p:nvSpPr>
          <p:cNvPr id="13" name="TextBox 12"/>
          <p:cNvSpPr txBox="1"/>
          <p:nvPr/>
        </p:nvSpPr>
        <p:spPr>
          <a:xfrm>
            <a:off x="594360" y="5266944"/>
            <a:ext cx="10789920" cy="411480"/>
          </a:xfrm>
          <a:prstGeom prst="rect">
            <a:avLst/>
          </a:prstGeom>
          <a:noFill/>
        </p:spPr>
        <p:txBody>
          <a:bodyPr wrap="square" lIns="0" rIns="0" tIns="0" bIns="0">
            <a:spAutoFit/>
          </a:bodyPr>
          <a:lstStyle/>
          <a:p>
            <a:pPr>
              <a:spcAft>
                <a:spcPts val="600"/>
              </a:spcAft>
              <a:defRPr sz="1900" b="0">
                <a:solidFill>
                  <a:srgbClr val="FFFFFF"/>
                </a:solidFill>
                <a:latin typeface="DejaVu Sans"/>
              </a:defRPr>
            </a:pPr>
            <a:r>
              <a:t>[ADD PUBLIC DEMO VIDEO — UNDER 3 MINUTES]</a:t>
            </a:r>
          </a:p>
        </p:txBody>
      </p:sp>
      <p:sp>
        <p:nvSpPr>
          <p:cNvPr id="14" name="TextBox 13"/>
          <p:cNvSpPr txBox="1"/>
          <p:nvPr/>
        </p:nvSpPr>
        <p:spPr>
          <a:xfrm>
            <a:off x="594360" y="5989320"/>
            <a:ext cx="10789920" cy="274320"/>
          </a:xfrm>
          <a:prstGeom prst="rect">
            <a:avLst/>
          </a:prstGeom>
          <a:noFill/>
        </p:spPr>
        <p:txBody>
          <a:bodyPr wrap="square" lIns="0" rIns="0" tIns="0" bIns="0">
            <a:spAutoFit/>
          </a:bodyPr>
          <a:lstStyle/>
          <a:p>
            <a:pPr>
              <a:spcAft>
                <a:spcPts val="600"/>
              </a:spcAft>
              <a:defRPr sz="1300" b="0">
                <a:solidFill>
                  <a:srgbClr val="E6F0E8"/>
                </a:solidFill>
                <a:latin typeface="DejaVu Sans"/>
              </a:defRPr>
            </a:pPr>
            <a:r>
              <a:t>SSRD  /  Subram Das  /  Watch. Discover. Connect the dots.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5BF95"/>
      </a:hlink>
      <a:folHlink>
        <a:srgbClr val="55BF9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Revelink — AI Builder Cup 2026</dc:title>
  <dc:subject>SSRD | Media, Content &amp; Digital Experiences</dc:subject>
  <dc:creator>SSRD — Subram Das</dc:creator>
  <cp:keywords>Revelink, Gemini, Google Cloud, learning, AI Builder Cup</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